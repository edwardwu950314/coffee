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Test 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E8DCCB"/>
            </a:solidFill>
          </c:spPr>
          <c:dPt>
            <c:idx val="4"/>
            <c:spPr>
              <a:solidFill>
                <a:srgbClr val="C77D2E"/>
              </a:solidFill>
            </c:spPr>
          </c:dPt>
          <c:cat>
            <c:strRef>
              <c:f>Sheet1!$A$2:$A$6</c:f>
              <c:strCache>
                <c:ptCount val="5"/>
                <c:pt idx="0">
                  <c:v>ResNet18</c:v>
                </c:pt>
                <c:pt idx="1">
                  <c:v>EffNet-B0</c:v>
                </c:pt>
                <c:pt idx="2">
                  <c:v>ResNet50</c:v>
                </c:pt>
                <c:pt idx="3">
                  <c:v>ResNet50 v2</c:v>
                </c:pt>
                <c:pt idx="4">
                  <c:v>bin_reg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93.2</c:v>
                </c:pt>
                <c:pt idx="1">
                  <c:v>93.2</c:v>
                </c:pt>
                <c:pt idx="2">
                  <c:v>94.8</c:v>
                </c:pt>
                <c:pt idx="3">
                  <c:v>94.7</c:v>
                </c:pt>
                <c:pt idx="4">
                  <c:v>95.5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7.0"/>
          <c:min val="9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咖啡豆缺陷辨識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E8DCCB"/>
                </a:solidFill>
                <a:latin typeface="Microsoft JhengHei"/>
              </a:rPr>
              <a:t>週工作進度報告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77D2E"/>
                </a:solidFill>
                <a:latin typeface="Microsoft JhengHei"/>
              </a:rPr>
              <a:t>2026/09/24 – 09/30　｜　ResNet50 好豆 / 壞豆二分類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本週成果：轉向好豆 / 壞豆二分類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77D2E"/>
                </a:solidFill>
                <a:latin typeface="Microsoft JhengHei"/>
              </a:rPr>
              <a:t>95.5%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測試集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94.7% → 95.5%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9202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77D2E"/>
                </a:solidFill>
                <a:latin typeface="Microsoft JhengHei"/>
              </a:rPr>
              <a:t>0.945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1089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測試集 macro-F1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36118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0.936 → 0.945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9202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77D2E"/>
                </a:solidFill>
                <a:latin typeface="Microsoft JhengHei"/>
              </a:rPr>
              <a:t>9,015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1089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訓練＋驗證＋測試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6118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5573 / 1734 / 1708 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576" y="19202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77D2E"/>
                </a:solidFill>
                <a:latin typeface="Microsoft JhengHei"/>
              </a:rPr>
              <a:t>18 →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31089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分類類別數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36118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合併 USK-Coffee 資料集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JhengHei"/>
              </a:rPr>
              <a:t>主要做法：ResNet50 + Dropout 0.5 + weight decay 0.05 + label smoothing 0.1，並加強資料增強，降低 overfitting。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本週目標與完成狀態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20040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目標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擴充資料（併入 USK-Coffee、自拍豆）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離線資料擴增（只擴增 train，避免洩漏）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改為好豆 / 壞豆二分類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比較 ResNet18 / ResNet50 / EfficientNet-B0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降低 overfitting（Dropout、weight decay、label smoothing）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統一「好壞」標準（偏黃、銀皮斑塊）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⏳ 未決定，列入下週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資料處理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3560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1D14"/>
                </a:solidFill>
                <a:latin typeface="Consolas"/>
              </a:rPr>
              <a:t>augment.py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只擴增 train：翻轉、旋轉、裁切、亮度、模糊、雜訊；val / test 不動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42032"/>
            <a:ext cx="548640" cy="54864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4203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14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1D14"/>
                </a:solidFill>
                <a:latin typeface="Consolas"/>
              </a:rPr>
              <a:t>merge_classes.py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8950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合併相近類別（Black / Sour / Insect Damage）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21024"/>
            <a:ext cx="548640" cy="54864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2102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935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1D14"/>
                </a:solidFill>
                <a:latin typeface="Consolas"/>
              </a:rPr>
              <a:t>resize_class.py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6849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Normal 類別放大成 500×500，避免解析度成為捷徑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00016"/>
            <a:ext cx="548640" cy="54864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0001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7258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1D14"/>
                </a:solidFill>
                <a:latin typeface="Consolas"/>
              </a:rPr>
              <a:t>make_binary_split.py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4748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依人工標註 binary_labels.csv 產生 bad / good 切分；USK 沿用原切分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0" y="155448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188720"/>
                <a:gridCol w="1188720"/>
                <a:gridCol w="109728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切分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good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bad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合計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train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3626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1947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5573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val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1199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535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1734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test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1207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501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1708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0" y="43891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壞豆約佔 30%，訓練時用類別加權 loss 處理不平衡。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程式碼 ①　model.py：多種 backbone + Dropout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766560" cy="46634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6309360" cy="4297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def __init__(self, num_classes=18, pretrained=True,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     arch="resnet18", dropout=0.0):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weights = "DEFAULT" if pretrained else None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if arch == "efficientnet_b0":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net = models.efficientnet_b0(weights=weights)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self.backbone = nn.Sequential(net.features,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                              net.avgpool)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feat_dim = net.classifier[1].in_features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else:  # resnet18 / resnet50 ...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net = getattr(models, arch)(weights=weights)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self.backbone = nn.Sequential(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    *list(net.children())[:-1])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    feat_dim = net.fc.in_features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self.dropout = nn.Dropout(dropout)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self.classifier = nn.Linear(feat_dim, num_classes)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554480"/>
            <a:ext cx="4023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重點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• arch 參數可切換 ResNet18 / ResNet50 / EfficientNet-B0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• 特徵維度自動取得，不再寫死 512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• 分類頭前加 Dropout，訓練時隨機丟特徵抑制 overfitting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• checkpoint 額外存 arch，推論可自動還原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程式碼 ②　train.py / dataset.py：正則化與增強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parser.add_argument("--dropout", default=0.5)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parser.add_argument("--weight-decay", default=0.05)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parser.add_argument("--label-smoothing", default=0.1)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criterion = nn.CrossEntropyLoss(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weight=class_weights,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label_smoothing=args.label_smoothing)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optimizer = optim.AdamW(model.parameters(),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lr=args.lr, weight_decay=args.weight_decay)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6459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RandomResizedCrop(size, scale=(0.6, 1.0),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          ratio=(0.85, 1.15)),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RandomHorizontalFlip(),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RandomVerticalFlip(),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RandomRotation(degrees=30),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ColorJitter(brightness=0.3, contrast=0.3,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    saturation=0.2, hue=0.05),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ToTensor(),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Normalize(IMAGENET_MEAN, IMAGENET_STD),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RandomErasing(p=0.25, scale=(0.02, 0.15),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      value="random"),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三項正則化各司其職：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Dropout 減少特徵依賴、weight decay 限制權重大小、label smoothing 避免過度自信。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257800"/>
            <a:ext cx="5349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增強更強：裁切範圍加大，並新增 RandomErasing。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實驗比較：測試集表現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463040"/>
          <a:ext cx="4937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實驗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Test Acc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Test F1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18 類 ResNet18（起點）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0.611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0.570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好/壞 ResNet18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0.932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0.916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好/壞 EffNet-B0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0.932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0.917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好/壞 ResNet50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0.948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0.935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ResNet50 v2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0.947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0.936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Microsoft JhengHei"/>
                        </a:rPr>
                        <a:t>bin_reg（正則化）</a:t>
                      </a:r>
                    </a:p>
                  </a:txBody>
                  <a:tcPr marL="91440" marR="91440" anchor="ctr">
                    <a:solidFill>
                      <a:srgbClr val="E8D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Microsoft JhengHei"/>
                        </a:rPr>
                        <a:t>0.955</a:t>
                      </a:r>
                    </a:p>
                  </a:txBody>
                  <a:tcPr marL="91440" marR="91440" anchor="ctr">
                    <a:solidFill>
                      <a:srgbClr val="E8D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Microsoft JhengHei"/>
                        </a:rPr>
                        <a:t>0.945</a:t>
                      </a:r>
                    </a:p>
                  </a:txBody>
                  <a:tcPr marL="91440" marR="91440" anchor="ctr">
                    <a:solidFill>
                      <a:srgbClr val="E8DCC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48463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ResNet50 明顯優於 ResNet18 / EffNet-B0；加入正則化後再進步約 0.8 個百分點。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18 類起點的任務較難，不能直接與二分類比較。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訓練圖：加入正則化後更平穩</a:t>
            </a:r>
          </a:p>
        </p:txBody>
      </p:sp>
      <p:pic>
        <p:nvPicPr>
          <p:cNvPr id="3" name="Picture 2" descr="v2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577840" cy="1992086"/>
          </a:xfrm>
          <a:prstGeom prst="rect">
            <a:avLst/>
          </a:prstGeom>
        </p:spPr>
      </p:pic>
      <p:pic>
        <p:nvPicPr>
          <p:cNvPr id="4" name="Picture 3" descr="binre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37360"/>
            <a:ext cx="5577840" cy="1992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258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ResNet50 v2（無強正則化）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77D2E"/>
                </a:solidFill>
                <a:latin typeface="Microsoft JhengHei"/>
              </a:rPr>
              <a:t>bin_reg（Dropout + WD + LS）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Train loss 降到約 0.005，Val loss 在 0.09–0.17 間震盪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→ 有 overfitting 跡象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4206240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Train loss 停在約 0.24（label smoothing 下限）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Val loss 更平穩，訓練與驗證差距縮小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起點 18 類 ResNet18（9/23）：Val acc 0.813 / Test acc 0.611，泛化明顯不足。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測試圖：混淆矩陣（test set）</a:t>
            </a:r>
          </a:p>
        </p:txBody>
      </p:sp>
      <p:pic>
        <p:nvPicPr>
          <p:cNvPr id="3" name="Picture 2" descr="v2_cm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4425696" cy="4023360"/>
          </a:xfrm>
          <a:prstGeom prst="rect">
            <a:avLst/>
          </a:prstGeom>
        </p:spPr>
      </p:pic>
      <p:pic>
        <p:nvPicPr>
          <p:cNvPr id="4" name="Picture 3" descr="binreg_cm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08760"/>
            <a:ext cx="4425696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6928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ResNet50 v2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bad→good 誤判 49、good→bad 誤判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566928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bin_reg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bad→good 誤判 50、good→bad 誤判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測試圖：單張預測與分類報告</a:t>
            </a:r>
          </a:p>
        </p:txBody>
      </p:sp>
      <p:pic>
        <p:nvPicPr>
          <p:cNvPr id="3" name="Picture 2" descr="pred_h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932176" cy="3200400"/>
          </a:xfrm>
          <a:prstGeom prst="rect">
            <a:avLst/>
          </a:prstGeom>
        </p:spPr>
      </p:pic>
      <p:pic>
        <p:nvPicPr>
          <p:cNvPr id="4" name="Picture 3" descr="pred_u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371600"/>
            <a:ext cx="2932176" cy="3200400"/>
          </a:xfrm>
          <a:prstGeom prst="rect">
            <a:avLst/>
          </a:prstGeom>
        </p:spPr>
      </p:pic>
      <p:pic>
        <p:nvPicPr>
          <p:cNvPr id="5" name="Picture 4" descr="pred_bina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305435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006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Husk（瑕疵）→ bad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8006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USK 樣本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8006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二元模型輸出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921240" y="1463040"/>
          <a:ext cx="1828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class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recall</a:t>
                      </a:r>
                    </a:p>
                  </a:txBody>
                  <a:tcPr marL="91440" marR="91440" anchor="ctr">
                    <a:solidFill>
                      <a:srgbClr val="2B1D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bad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good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Microsoft JhengHei"/>
                        </a:rPr>
                        <a:t>0.978</a:t>
                      </a:r>
                    </a:p>
                  </a:txBody>
                  <a:tcPr marL="91440" marR="91440" anchor="ctr">
                    <a:solidFill>
                      <a:srgbClr val="F3F0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921240" y="3017520"/>
            <a:ext cx="1828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bin_reg 測試集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bad F1 0.921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Microsoft JhengHei"/>
              </a:rPr>
              <a:t>good F1 0.968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batch_predict.py 新增 --per-class 每類抽樣，並支援二元模型（Normal 視為 good）。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遇到的問題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解析度不一致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7744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Normal 為 200×200、其他 500×500，可能成為捷徑；已用 resize_class.py 處理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標籤矛盾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7744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Fade_08 與 Partial Sour_06 是同一張圖，切分時已排除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1148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好壞標準不一致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75488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偏黃算不算壞未決定（USK 約 60 張漏抓）；銀皮斑塊只套用在自拍資料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03A2E"/>
                </a:solidFill>
                <a:latin typeface="Microsoft JhengHei"/>
              </a:rPr>
              <a:t>bad recall 僅 0.90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75488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漏抓壞豆（bad→good 50 張）是實務上較嚴重的錯誤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下週計劃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5544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補拍自己的好豆與壞豆（自拍好豆僅 35 張），裁成單顆 500×500 併入 data/merged/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統一好壞標準，並依新標準複查 USK 好豆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319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用新資料重訓 ResNet50，分開評估自拍與 USK 的好 / 壞豆表現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1206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調整決策門檻，提高 bad recall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