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1"/>
  <c:style val="2"/>
  <c:chart>
    <c:title>
      <c:tx>
        <c:rich>
          <a:bodyPr/>
          <a:lstStyle/>
          <a:p>
            <a:r>
              <a:rPr lang="en-US" sz="1400"/>
              <a:t>Test Accuracy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Test Accuracy (%)</c:v>
                </c:pt>
              </c:strCache>
            </c:strRef>
          </c:tx>
          <c:spPr>
            <a:solidFill>
              <a:srgbClr val="E8DCCB"/>
            </a:solidFill>
          </c:spPr>
          <c:invertIfNegative val="1"/>
          <c:dPt>
            <c:idx val="0"/>
            <c:invertIfNegative val="1"/>
            <c:bubble3D val="0"/>
            <c:spPr>
              <a:solidFill>
                <a:srgbClr val="C77D2E"/>
              </a:solidFill>
            </c:spPr>
            <c:extLst>
              <c:ext xmlns:c16="http://schemas.microsoft.com/office/drawing/2014/chart" uri="{C3380CC4-5D6E-409C-BE32-E72D297353CC}">
                <c16:uniqueId val="{00000001-2175-416D-8A0B-3FE9DF11B5F3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/>
                </a:pPr>
                <a:endParaRPr lang="zh-TW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水洗</c:v>
                </c:pt>
                <c:pt idx="1">
                  <c:v>日曬</c:v>
                </c:pt>
                <c:pt idx="2">
                  <c:v>蜜處理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97</c:v>
                </c:pt>
                <c:pt idx="1">
                  <c:v>99.3</c:v>
                </c:pt>
                <c:pt idx="2">
                  <c:v>99.3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2175-416D-8A0B-3FE9DF11B5F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  <a:endParaRPr lang="zh-TW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0"/>
          <c:min val="94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zh-TW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zh-TW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jpg"/><Relationship Id="rId3" Type="http://schemas.openxmlformats.org/officeDocument/2006/relationships/image" Target="../media/image8.jpg"/><Relationship Id="rId7" Type="http://schemas.openxmlformats.org/officeDocument/2006/relationships/image" Target="../media/image12.jp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jpg"/><Relationship Id="rId5" Type="http://schemas.openxmlformats.org/officeDocument/2006/relationships/image" Target="../media/image10.jpg"/><Relationship Id="rId4" Type="http://schemas.openxmlformats.org/officeDocument/2006/relationships/image" Target="../media/image9.jpg"/><Relationship Id="rId9" Type="http://schemas.openxmlformats.org/officeDocument/2006/relationships/image" Target="../media/image14.jp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B1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Microsoft JhengHei"/>
              </a:rPr>
              <a:t>咖啡豆分選機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>
                <a:solidFill>
                  <a:srgbClr val="E8DCCB"/>
                </a:solidFill>
                <a:latin typeface="Microsoft JhengHei"/>
              </a:rPr>
              <a:t>週工作進度報告：日曬 / 蜜處理資料集與模型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0624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C77D2E"/>
                </a:solidFill>
                <a:latin typeface="Microsoft JhengHei"/>
              </a:rPr>
              <a:t>2026/10/08 – 10/14　｜　ResNet18 好豆 / 壞豆二分類，依處理法各一個模型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B1D14"/>
                </a:solidFill>
                <a:latin typeface="Microsoft JhengHei"/>
              </a:rPr>
              <a:t>本週成果：三種處理法皆完成第一版模型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54480"/>
            <a:ext cx="2606040" cy="3017520"/>
          </a:xfrm>
          <a:prstGeom prst="roundRect">
            <a:avLst>
              <a:gd name="adj" fmla="val 6000"/>
            </a:avLst>
          </a:prstGeom>
          <a:solidFill>
            <a:srgbClr val="F3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2240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C77D2E"/>
                </a:solidFill>
                <a:latin typeface="Microsoft JhengHei"/>
              </a:rPr>
              <a:t>99.3%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B1D14"/>
                </a:solidFill>
                <a:latin typeface="Microsoft JhengHei"/>
              </a:rPr>
              <a:t>日曬 test 準確率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11880"/>
            <a:ext cx="22402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6B"/>
                </a:solidFill>
                <a:latin typeface="Microsoft JhengHei"/>
              </a:rPr>
              <a:t>漏抓 1、誤判 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64992" y="1554480"/>
            <a:ext cx="2606040" cy="3017520"/>
          </a:xfrm>
          <a:prstGeom prst="roundRect">
            <a:avLst>
              <a:gd name="adj" fmla="val 6000"/>
            </a:avLst>
          </a:prstGeom>
          <a:solidFill>
            <a:srgbClr val="F3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547872" y="1920240"/>
            <a:ext cx="2240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C77D2E"/>
                </a:solidFill>
                <a:latin typeface="Microsoft JhengHei"/>
              </a:rPr>
              <a:t>99.3%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10896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B1D14"/>
                </a:solidFill>
                <a:latin typeface="Microsoft JhengHei"/>
              </a:rPr>
              <a:t>蜜處理 test 準確率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7872" y="3611880"/>
            <a:ext cx="22402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6B"/>
                </a:solidFill>
                <a:latin typeface="Microsoft JhengHei"/>
              </a:rPr>
              <a:t>漏抓 1、誤判 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554480"/>
            <a:ext cx="2606040" cy="3017520"/>
          </a:xfrm>
          <a:prstGeom prst="roundRect">
            <a:avLst>
              <a:gd name="adj" fmla="val 6000"/>
            </a:avLst>
          </a:prstGeom>
          <a:solidFill>
            <a:srgbClr val="F3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64224" y="1920240"/>
            <a:ext cx="2240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C77D2E"/>
                </a:solidFill>
                <a:latin typeface="Microsoft JhengHei"/>
              </a:rPr>
              <a:t>97.0%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224" y="310896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B1D14"/>
                </a:solidFill>
                <a:latin typeface="Microsoft JhengHei"/>
              </a:rPr>
              <a:t>水洗 test 準確率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3611880"/>
            <a:ext cx="22402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6B"/>
                </a:solidFill>
                <a:latin typeface="Microsoft JhengHei"/>
              </a:rPr>
              <a:t>漏抓 5、誤判 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97696" y="1554480"/>
            <a:ext cx="2606040" cy="3017520"/>
          </a:xfrm>
          <a:prstGeom prst="roundRect">
            <a:avLst>
              <a:gd name="adj" fmla="val 6000"/>
            </a:avLst>
          </a:prstGeom>
          <a:solidFill>
            <a:srgbClr val="F3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80576" y="1920240"/>
            <a:ext cx="2240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C77D2E"/>
                </a:solidFill>
                <a:latin typeface="Microsoft JhengHei"/>
              </a:rPr>
              <a:t>3,373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0576" y="310896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B1D14"/>
                </a:solidFill>
                <a:latin typeface="Microsoft JhengHei"/>
              </a:rPr>
              <a:t>三種處理法圖片總數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0576" y="3611880"/>
            <a:ext cx="22402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6B"/>
                </a:solidFill>
                <a:latin typeface="Microsoft JhengHei"/>
              </a:rPr>
              <a:t>水洗＋日曬＋蜜處理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029200"/>
            <a:ext cx="11064240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dirty="0" err="1">
                <a:solidFill>
                  <a:srgbClr val="2B2B2B"/>
                </a:solidFill>
                <a:latin typeface="Microsoft JhengHei"/>
              </a:rPr>
              <a:t>新增：壞豆信心度</a:t>
            </a:r>
            <a:r>
              <a:rPr sz="1700" b="0" dirty="0">
                <a:solidFill>
                  <a:srgbClr val="2B2B2B"/>
                </a:solidFill>
                <a:latin typeface="Microsoft JhengHei"/>
              </a:rPr>
              <a:t> </a:t>
            </a:r>
            <a:r>
              <a:rPr sz="1700" b="0" dirty="0" err="1">
                <a:solidFill>
                  <a:srgbClr val="2B2B2B"/>
                </a:solidFill>
                <a:latin typeface="Microsoft JhengHei"/>
              </a:rPr>
              <a:t>p_bad，以及每次訓練後自動列出誤判</a:t>
            </a:r>
            <a:r>
              <a:rPr sz="1700" b="0" dirty="0">
                <a:solidFill>
                  <a:srgbClr val="2B2B2B"/>
                </a:solidFill>
                <a:latin typeface="Microsoft JhengHei"/>
              </a:rPr>
              <a:t> / </a:t>
            </a:r>
            <a:r>
              <a:rPr sz="1700" b="0" dirty="0" err="1">
                <a:solidFill>
                  <a:srgbClr val="2B2B2B"/>
                </a:solidFill>
                <a:latin typeface="Microsoft JhengHei"/>
              </a:rPr>
              <a:t>漏抓的照片</a:t>
            </a:r>
            <a:r>
              <a:rPr sz="1700" b="0" dirty="0">
                <a:solidFill>
                  <a:srgbClr val="2B2B2B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B1D14"/>
                </a:solidFill>
                <a:latin typeface="Microsoft JhengHei"/>
              </a:rPr>
              <a:t>資料集與切分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55448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處理法</a:t>
                      </a:r>
                    </a:p>
                  </a:txBody>
                  <a:tcPr anchor="ctr">
                    <a:solidFill>
                      <a:srgbClr val="2B1D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good</a:t>
                      </a:r>
                    </a:p>
                  </a:txBody>
                  <a:tcPr anchor="ctr">
                    <a:solidFill>
                      <a:srgbClr val="2B1D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bad</a:t>
                      </a:r>
                    </a:p>
                  </a:txBody>
                  <a:tcPr anchor="ctr">
                    <a:solidFill>
                      <a:srgbClr val="2B1D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合計</a:t>
                      </a:r>
                    </a:p>
                  </a:txBody>
                  <a:tcPr anchor="ctr">
                    <a:solidFill>
                      <a:srgbClr val="2B1D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train</a:t>
                      </a:r>
                    </a:p>
                  </a:txBody>
                  <a:tcPr anchor="ctr">
                    <a:solidFill>
                      <a:srgbClr val="2B1D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val</a:t>
                      </a:r>
                    </a:p>
                  </a:txBody>
                  <a:tcPr anchor="ctr">
                    <a:solidFill>
                      <a:srgbClr val="2B1D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test</a:t>
                      </a:r>
                    </a:p>
                  </a:txBody>
                  <a:tcPr anchor="ctr">
                    <a:solidFill>
                      <a:srgbClr val="2B1D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B2B2B"/>
                          </a:solidFill>
                          <a:latin typeface="Microsoft JhengHei"/>
                        </a:rPr>
                        <a:t>水洗 water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B2B2B"/>
                          </a:solidFill>
                          <a:latin typeface="Microsoft JhengHei"/>
                        </a:rPr>
                        <a:t>680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B2B2B"/>
                          </a:solidFill>
                          <a:latin typeface="Microsoft JhengHei"/>
                        </a:rPr>
                        <a:t>666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B2B2B"/>
                          </a:solidFill>
                          <a:latin typeface="Microsoft JhengHei"/>
                        </a:rPr>
                        <a:t>1,346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B2B2B"/>
                          </a:solidFill>
                          <a:latin typeface="Microsoft JhengHei"/>
                        </a:rPr>
                        <a:t>942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B2B2B"/>
                          </a:solidFill>
                          <a:latin typeface="Microsoft JhengHei"/>
                        </a:rPr>
                        <a:t>202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B2B2B"/>
                          </a:solidFill>
                          <a:latin typeface="Microsoft JhengHei"/>
                        </a:rPr>
                        <a:t>202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B2B2B"/>
                          </a:solidFill>
                          <a:latin typeface="Microsoft JhengHei"/>
                        </a:rPr>
                        <a:t>日曬 sun</a:t>
                      </a:r>
                    </a:p>
                  </a:txBody>
                  <a:tcPr anchor="ctr">
                    <a:solidFill>
                      <a:srgbClr val="F3F0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B2B2B"/>
                          </a:solidFill>
                          <a:latin typeface="Microsoft JhengHei"/>
                        </a:rPr>
                        <a:t>509</a:t>
                      </a:r>
                    </a:p>
                  </a:txBody>
                  <a:tcPr anchor="ctr">
                    <a:solidFill>
                      <a:srgbClr val="F3F0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B2B2B"/>
                          </a:solidFill>
                          <a:latin typeface="Microsoft JhengHei"/>
                        </a:rPr>
                        <a:t>506</a:t>
                      </a:r>
                    </a:p>
                  </a:txBody>
                  <a:tcPr anchor="ctr">
                    <a:solidFill>
                      <a:srgbClr val="F3F0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B2B2B"/>
                          </a:solidFill>
                          <a:latin typeface="Microsoft JhengHei"/>
                        </a:rPr>
                        <a:t>1,015</a:t>
                      </a:r>
                    </a:p>
                  </a:txBody>
                  <a:tcPr anchor="ctr">
                    <a:solidFill>
                      <a:srgbClr val="F3F0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B2B2B"/>
                          </a:solidFill>
                          <a:latin typeface="Microsoft JhengHei"/>
                        </a:rPr>
                        <a:t>711</a:t>
                      </a:r>
                    </a:p>
                  </a:txBody>
                  <a:tcPr anchor="ctr">
                    <a:solidFill>
                      <a:srgbClr val="F3F0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B2B2B"/>
                          </a:solidFill>
                          <a:latin typeface="Microsoft JhengHei"/>
                        </a:rPr>
                        <a:t>152</a:t>
                      </a:r>
                    </a:p>
                  </a:txBody>
                  <a:tcPr anchor="ctr">
                    <a:solidFill>
                      <a:srgbClr val="F3F0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B2B2B"/>
                          </a:solidFill>
                          <a:latin typeface="Microsoft JhengHei"/>
                        </a:rPr>
                        <a:t>152</a:t>
                      </a:r>
                    </a:p>
                  </a:txBody>
                  <a:tcPr anchor="ctr">
                    <a:solidFill>
                      <a:srgbClr val="F3F0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B2B2B"/>
                          </a:solidFill>
                          <a:latin typeface="Microsoft JhengHei"/>
                        </a:rPr>
                        <a:t>蜜處理 honey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B2B2B"/>
                          </a:solidFill>
                          <a:latin typeface="Microsoft JhengHei"/>
                        </a:rPr>
                        <a:t>509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B2B2B"/>
                          </a:solidFill>
                          <a:latin typeface="Microsoft JhengHei"/>
                        </a:rPr>
                        <a:t>503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B2B2B"/>
                          </a:solidFill>
                          <a:latin typeface="Microsoft JhengHei"/>
                        </a:rPr>
                        <a:t>1,012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B2B2B"/>
                          </a:solidFill>
                          <a:latin typeface="Microsoft JhengHei"/>
                        </a:rPr>
                        <a:t>710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B2B2B"/>
                          </a:solidFill>
                          <a:latin typeface="Microsoft JhengHei"/>
                        </a:rPr>
                        <a:t>151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B2B2B"/>
                          </a:solidFill>
                          <a:latin typeface="Microsoft JhengHei"/>
                        </a:rPr>
                        <a:t>151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57200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Microsoft JhengHei"/>
              </a:rPr>
              <a:t>• 逐顆人工挑選、單顆單獨拍攝，標籤由資料夾名稱 good / bad 取得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47488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Microsoft JhengHei"/>
              </a:rPr>
              <a:t>• prepare_dataset.py：偵測豆子位置，裁成 256×256 方形小圖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522976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Microsoft JhengHei"/>
              </a:rPr>
              <a:t>• 依「類別 × 拍攝日期」分層抽樣切成 70 / 15 / 15（seed = 42），存成 splits/&lt;method&gt;.json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98464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Microsoft JhengHei"/>
              </a:rPr>
              <a:t>• good : bad 約 1 : 1，不需處理類別不均；日曬、蜜處理皆為 10/14 單日拍攝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B1D14"/>
                </a:solidFill>
                <a:latin typeface="Microsoft JhengHei"/>
              </a:rPr>
              <a:t>訓練設定（三種處理法相同）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1064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項目</a:t>
                      </a:r>
                    </a:p>
                  </a:txBody>
                  <a:tcPr anchor="ctr">
                    <a:solidFill>
                      <a:srgbClr val="2B1D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設定</a:t>
                      </a:r>
                    </a:p>
                  </a:txBody>
                  <a:tcPr anchor="ctr">
                    <a:solidFill>
                      <a:srgbClr val="2B1D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B2B2B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B2B2B"/>
                          </a:solidFill>
                          <a:latin typeface="Microsoft JhengHei"/>
                        </a:rPr>
                        <a:t>ResNet18（ImageNet 預訓練）＋新的線性分類頭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B2B2B"/>
                          </a:solidFill>
                          <a:latin typeface="Microsoft JhengHei"/>
                        </a:rPr>
                        <a:t>輸入</a:t>
                      </a:r>
                    </a:p>
                  </a:txBody>
                  <a:tcPr anchor="ctr">
                    <a:solidFill>
                      <a:srgbClr val="F3F0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B2B2B"/>
                          </a:solidFill>
                          <a:latin typeface="Microsoft JhengHei"/>
                        </a:rPr>
                        <a:t>256×256 單顆豆子圖 → 224×224</a:t>
                      </a:r>
                    </a:p>
                  </a:txBody>
                  <a:tcPr anchor="ctr">
                    <a:solidFill>
                      <a:srgbClr val="F3F0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B2B2B"/>
                          </a:solidFill>
                          <a:latin typeface="Microsoft JhengHei"/>
                        </a:rPr>
                        <a:t>Optimizer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B2B2B"/>
                          </a:solidFill>
                          <a:latin typeface="Microsoft JhengHei"/>
                        </a:rPr>
                        <a:t>AdamW，lr 1e-4，weight decay 0.05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B2B2B"/>
                          </a:solidFill>
                          <a:latin typeface="Microsoft JhengHei"/>
                        </a:rPr>
                        <a:t>Scheduler</a:t>
                      </a:r>
                    </a:p>
                  </a:txBody>
                  <a:tcPr anchor="ctr">
                    <a:solidFill>
                      <a:srgbClr val="F3F0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B2B2B"/>
                          </a:solidFill>
                          <a:latin typeface="Microsoft JhengHei"/>
                        </a:rPr>
                        <a:t>ReduceLROnPlateau：val loss 連續 3 epoch 無進步 → lr 減半</a:t>
                      </a:r>
                    </a:p>
                  </a:txBody>
                  <a:tcPr anchor="ctr">
                    <a:solidFill>
                      <a:srgbClr val="F3F0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B2B2B"/>
                          </a:solidFill>
                          <a:latin typeface="Microsoft JhengHei"/>
                        </a:rPr>
                        <a:t>Loss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B2B2B"/>
                          </a:solidFill>
                          <a:latin typeface="Microsoft JhengHei"/>
                        </a:rPr>
                        <a:t>CrossEntropy，label smoothing 0.1，類別權重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B2B2B"/>
                          </a:solidFill>
                          <a:latin typeface="Microsoft JhengHei"/>
                        </a:rPr>
                        <a:t>正則化</a:t>
                      </a:r>
                    </a:p>
                  </a:txBody>
                  <a:tcPr anchor="ctr">
                    <a:solidFill>
                      <a:srgbClr val="F3F0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B2B2B"/>
                          </a:solidFill>
                          <a:latin typeface="Microsoft JhengHei"/>
                        </a:rPr>
                        <a:t>Dropout 0.5（分類頭前）</a:t>
                      </a:r>
                    </a:p>
                  </a:txBody>
                  <a:tcPr anchor="ctr">
                    <a:solidFill>
                      <a:srgbClr val="F3F0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B2B2B"/>
                          </a:solidFill>
                          <a:latin typeface="Microsoft JhengHei"/>
                        </a:rPr>
                        <a:t>Batch / Epoch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B2B2B"/>
                          </a:solidFill>
                          <a:latin typeface="Microsoft JhengHei"/>
                        </a:rPr>
                        <a:t>batch 16，最多 30 epoch，early stopping patience 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B2B2B"/>
                          </a:solidFill>
                          <a:latin typeface="Microsoft JhengHei"/>
                        </a:rPr>
                        <a:t>選模型</a:t>
                      </a:r>
                    </a:p>
                  </a:txBody>
                  <a:tcPr anchor="ctr">
                    <a:solidFill>
                      <a:srgbClr val="F3F0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B2B2B"/>
                          </a:solidFill>
                          <a:latin typeface="Microsoft JhengHei"/>
                        </a:rPr>
                        <a:t>以 val macro-F1 挑最佳 epoch（同分取 val loss 較低者）</a:t>
                      </a:r>
                    </a:p>
                  </a:txBody>
                  <a:tcPr anchor="ctr">
                    <a:solidFill>
                      <a:srgbClr val="F3F0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B2B2B"/>
                          </a:solidFill>
                          <a:latin typeface="Microsoft JhengHei"/>
                        </a:rPr>
                        <a:t>其他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B2B2B"/>
                          </a:solidFill>
                          <a:latin typeface="Microsoft JhengHei"/>
                        </a:rPr>
                        <a:t>seed 42；GPU 自動啟用混合精度 (AMP)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B1D14"/>
                </a:solidFill>
                <a:latin typeface="Microsoft JhengHei"/>
              </a:rPr>
              <a:t>程式碼 ①　train.py / dataset.py：訓練核心與資料增強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5669280" cy="3383280"/>
          </a:xfrm>
          <a:prstGeom prst="roundRect">
            <a:avLst>
              <a:gd name="adj" fmla="val 6000"/>
            </a:avLst>
          </a:prstGeom>
          <a:solidFill>
            <a:srgbClr val="F3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645920"/>
            <a:ext cx="521208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B2B2B"/>
                </a:solidFill>
                <a:latin typeface="Consolas"/>
              </a:rPr>
              <a:t>model = CoffeeBeanClassifier(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2B2B2B"/>
                </a:solidFill>
                <a:latin typeface="Consolas"/>
              </a:rPr>
              <a:t>    num_classes=2, arch="resnet18", dropout=0.5)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2B2B2B"/>
                </a:solidFill>
                <a:latin typeface="Consolas"/>
              </a:rPr>
              <a:t>criterion = nn.CrossEntropyLoss(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2B2B2B"/>
                </a:solidFill>
                <a:latin typeface="Consolas"/>
              </a:rPr>
              <a:t>    weight=class_weights, label_smoothing=0.1)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2B2B2B"/>
                </a:solidFill>
                <a:latin typeface="Consolas"/>
              </a:rPr>
              <a:t>optimizer = optim.AdamW(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2B2B2B"/>
                </a:solidFill>
                <a:latin typeface="Consolas"/>
              </a:rPr>
              <a:t>    model.parameters(), lr=1e-4, weight_decay=0.05)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2B2B2B"/>
                </a:solidFill>
                <a:latin typeface="Consolas"/>
              </a:rPr>
              <a:t>scheduler = optim.lr_scheduler.ReduceLROnPlateau(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2B2B2B"/>
                </a:solidFill>
                <a:latin typeface="Consolas"/>
              </a:rPr>
              <a:t>    optimizer, mode="min", factor=0.5, patience=3)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2B2B2B"/>
                </a:solidFill>
                <a:latin typeface="Consolas"/>
              </a:rPr>
              <a:t># epochs=30, batch_size=16, patience=8, seed=42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2B2B2B"/>
                </a:solidFill>
                <a:latin typeface="Consolas"/>
              </a:rPr>
              <a:t># 以 val macro-F1 挑最佳權重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0" y="1463040"/>
            <a:ext cx="5166360" cy="4023360"/>
          </a:xfrm>
          <a:prstGeom prst="roundRect">
            <a:avLst>
              <a:gd name="adj" fmla="val 6000"/>
            </a:avLst>
          </a:prstGeom>
          <a:solidFill>
            <a:srgbClr val="F3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720840" y="1645920"/>
            <a:ext cx="4709160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B2B2B"/>
                </a:solidFill>
                <a:latin typeface="Consolas"/>
              </a:rPr>
              <a:t>RandomResizedCrop(224, scale=(0.6, 1.0),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2B2B2B"/>
                </a:solidFill>
                <a:latin typeface="Consolas"/>
              </a:rPr>
              <a:t>                  ratio=(0.85, 1.15)),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2B2B2B"/>
                </a:solidFill>
                <a:latin typeface="Consolas"/>
              </a:rPr>
              <a:t>RandomHorizontalFlip(),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2B2B2B"/>
                </a:solidFill>
                <a:latin typeface="Consolas"/>
              </a:rPr>
              <a:t>RandomVerticalFlip(),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2B2B2B"/>
                </a:solidFill>
                <a:latin typeface="Consolas"/>
              </a:rPr>
              <a:t>RandomRotation(degrees=30),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2B2B2B"/>
                </a:solidFill>
                <a:latin typeface="Consolas"/>
              </a:rPr>
              <a:t>ColorJitter(brightness=0.3, contrast=0.3,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2B2B2B"/>
                </a:solidFill>
                <a:latin typeface="Consolas"/>
              </a:rPr>
              <a:t>            saturation=0.2, hue=0.05),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2B2B2B"/>
                </a:solidFill>
                <a:latin typeface="Consolas"/>
              </a:rPr>
              <a:t>ToTensor(),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2B2B2B"/>
                </a:solidFill>
                <a:latin typeface="Consolas"/>
              </a:rPr>
              <a:t>Normalize(IMAGENET_MEAN, IMAGENET_STD),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2B2B2B"/>
                </a:solidFill>
                <a:latin typeface="Consolas"/>
              </a:rPr>
              <a:t>RandomErasing(p=0.25, scale=(0.02, 0.15),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2B2B2B"/>
                </a:solidFill>
                <a:latin typeface="Consolas"/>
              </a:rPr>
              <a:t>              value="random"),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0"/>
            <a:ext cx="566928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Microsoft JhengHei"/>
              </a:rPr>
              <a:t>三項正則化：Dropout 減少特徵依賴、weight decay 限制權重大小、label smoothing 避免過度自信。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5669280"/>
            <a:ext cx="5166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Microsoft JhengHei"/>
              </a:rPr>
              <a:t>資料增強只用在訓練集；val / test 只做 Resize + 正規化。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B1D14"/>
                </a:solidFill>
                <a:latin typeface="Microsoft JhengHei"/>
              </a:rPr>
              <a:t>程式碼 ②　壞豆信心度與誤判 / 漏抓清單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5486400" cy="3108960"/>
          </a:xfrm>
          <a:prstGeom prst="roundRect">
            <a:avLst>
              <a:gd name="adj" fmla="val 6000"/>
            </a:avLst>
          </a:prstGeom>
          <a:solidFill>
            <a:srgbClr val="F3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645920"/>
            <a:ext cx="502920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B2B2B"/>
                </a:solidFill>
                <a:latin typeface="Consolas"/>
              </a:rPr>
              <a:t># predict.py — Predictor.predict()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2B2B2B"/>
                </a:solidFill>
                <a:latin typeface="Consolas"/>
              </a:rPr>
              <a:t>bad_idx = self.class_names.index("bad")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2B2B2B"/>
                </a:solidFill>
                <a:latin typeface="Consolas"/>
              </a:rPr>
              <a:t>probs = torch.softmax(self.model(x), dim=1)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2B2B2B"/>
                </a:solidFill>
                <a:latin typeface="Consolas"/>
              </a:rPr>
              <a:t>scores, indices = probs.max(dim=1)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2B2B2B"/>
                </a:solidFill>
                <a:latin typeface="Consolas"/>
              </a:rPr>
              <a:t>results += [(self.class_names[i], s, b)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2B2B2B"/>
                </a:solidFill>
                <a:latin typeface="Consolas"/>
              </a:rPr>
              <a:t>    for i, s, b in zip(indices.tolist(),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2B2B2B"/>
                </a:solidFill>
                <a:latin typeface="Consolas"/>
              </a:rPr>
              <a:t>        scores.tolist(), probs[:, bad_idx].tolist())]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2B2B2B"/>
                </a:solidFill>
                <a:latin typeface="Consolas"/>
              </a:rPr>
              <a:t># 回傳 (判定類別, 判定機率, p_bad)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349240" cy="3840480"/>
          </a:xfrm>
          <a:prstGeom prst="roundRect">
            <a:avLst>
              <a:gd name="adj" fmla="val 6000"/>
            </a:avLst>
          </a:prstGeom>
          <a:solidFill>
            <a:srgbClr val="F3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37960" y="1645920"/>
            <a:ext cx="4892040" cy="3474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B2B2B"/>
                </a:solidFill>
                <a:latin typeface="Consolas"/>
              </a:rPr>
              <a:t># train.py — analyze_errors()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2B2B2B"/>
                </a:solidFill>
                <a:latin typeface="Consolas"/>
              </a:rPr>
              <a:t>for (path, label), p in zip(samples, probs):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2B2B2B"/>
                </a:solidFill>
                <a:latin typeface="Consolas"/>
              </a:rPr>
              <a:t>    pred = int(p.argmax())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2B2B2B"/>
                </a:solidFill>
                <a:latin typeface="Consolas"/>
              </a:rPr>
              <a:t>    p_bad = float(p[bad_idx])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2B2B2B"/>
                </a:solidFill>
                <a:latin typeface="Consolas"/>
              </a:rPr>
              <a:t>    writer.writerow([..., p_bad, int(pred == label)])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2B2B2B"/>
                </a:solidFill>
                <a:latin typeface="Consolas"/>
              </a:rPr>
              <a:t>    if pred != label: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2B2B2B"/>
                </a:solidFill>
                <a:latin typeface="Consolas"/>
              </a:rPr>
              <a:t>        (missed if label == bad_idx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2B2B2B"/>
                </a:solidFill>
                <a:latin typeface="Consolas"/>
              </a:rPr>
              <a:t>         else false_alarm).append((path, p_bad))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2B2B2B"/>
                </a:solidFill>
                <a:latin typeface="Consolas"/>
              </a:rPr>
              <a:t>missed.sort(key=lambda r: r[1])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2B2B2B"/>
                </a:solidFill>
                <a:latin typeface="Consolas"/>
              </a:rPr>
              <a:t>false_alarm.sort(key=lambda r: -r[1])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48640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Microsoft JhengHei"/>
              </a:rPr>
              <a:t>p_bad = 模型認為是壞豆的機率，不論判成哪一類都會給。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Microsoft JhengHei"/>
              </a:rPr>
              <a:t>可自訂門檻（如 p_bad &gt; 0.3）減少漏抓，或把 0.3~0.7 的豆子交人工複檢。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5486400"/>
            <a:ext cx="5349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Microsoft JhengHei"/>
              </a:rPr>
              <a:t>漏抓（壞豆判成好豆）比誤判嚴重，所以分開列出。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B1D14"/>
                </a:solidFill>
                <a:latin typeface="Microsoft JhengHei"/>
              </a:rPr>
              <a:t>日曬 / 蜜處理：訓練曲線與混淆矩陣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5577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B1D14"/>
                </a:solidFill>
                <a:latin typeface="Microsoft JhengHei"/>
              </a:rPr>
              <a:t>日曬　最佳 epoch 19，test 99.3%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1234440"/>
            <a:ext cx="5577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77D2E"/>
                </a:solidFill>
                <a:latin typeface="Microsoft JhengHei"/>
              </a:rPr>
              <a:t>蜜處理　最佳 epoch 21，test 99.3%</a:t>
            </a:r>
          </a:p>
        </p:txBody>
      </p:sp>
      <p:pic>
        <p:nvPicPr>
          <p:cNvPr id="5" name="Picture 4" descr="sun_1014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5577840" cy="1992086"/>
          </a:xfrm>
          <a:prstGeom prst="rect">
            <a:avLst/>
          </a:prstGeom>
        </p:spPr>
      </p:pic>
      <p:pic>
        <p:nvPicPr>
          <p:cNvPr id="6" name="Picture 5" descr="honey_1014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645920"/>
            <a:ext cx="5577840" cy="1992086"/>
          </a:xfrm>
          <a:prstGeom prst="rect">
            <a:avLst/>
          </a:prstGeom>
        </p:spPr>
      </p:pic>
      <p:pic>
        <p:nvPicPr>
          <p:cNvPr id="7" name="Picture 6" descr="sun_1014_cm_te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3040" y="3840480"/>
            <a:ext cx="3291840" cy="2743200"/>
          </a:xfrm>
          <a:prstGeom prst="rect">
            <a:avLst/>
          </a:prstGeom>
        </p:spPr>
      </p:pic>
      <p:pic>
        <p:nvPicPr>
          <p:cNvPr id="8" name="Picture 7" descr="honey_1014_cm_te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8040" y="3840480"/>
            <a:ext cx="329184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B1D14"/>
                </a:solidFill>
                <a:latin typeface="Microsoft JhengHei"/>
              </a:rPr>
              <a:t>水洗（重新訓練）：訓練曲線與混淆矩陣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6583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B1D14"/>
                </a:solidFill>
                <a:latin typeface="Microsoft JhengHei"/>
              </a:rPr>
              <a:t>最佳 epoch 10，val macro-F1 0.985，test 97.0%</a:t>
            </a:r>
          </a:p>
        </p:txBody>
      </p:sp>
      <p:pic>
        <p:nvPicPr>
          <p:cNvPr id="4" name="Picture 3" descr="water_1014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6675120" cy="2383971"/>
          </a:xfrm>
          <a:prstGeom prst="rect">
            <a:avLst/>
          </a:prstGeom>
        </p:spPr>
      </p:pic>
      <p:pic>
        <p:nvPicPr>
          <p:cNvPr id="5" name="Picture 4" descr="water_1014_cm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1371600"/>
            <a:ext cx="4828032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389120"/>
            <a:ext cx="667512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Microsoft JhengHei"/>
              </a:rPr>
              <a:t>test 202 張判錯 6 張：漏抓 5、誤判 1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Microsoft JhengHei"/>
              </a:rPr>
              <a:t>與 10/08 版本（97.5%）差約 1 張，屬隨機波動範圍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Microsoft JhengHei"/>
              </a:rPr>
              <a:t>為了產出錯誤清單，用新版 train.py 重訓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B1D14"/>
                </a:solidFill>
                <a:latin typeface="Microsoft JhengHei"/>
              </a:rPr>
              <a:t>三種處理法比較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371600"/>
          <a:ext cx="5669280" cy="4937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0" y="1554480"/>
          <a:ext cx="53035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處理法</a:t>
                      </a:r>
                    </a:p>
                  </a:txBody>
                  <a:tcPr anchor="ctr">
                    <a:solidFill>
                      <a:srgbClr val="2B1D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資料量</a:t>
                      </a:r>
                    </a:p>
                  </a:txBody>
                  <a:tcPr anchor="ctr">
                    <a:solidFill>
                      <a:srgbClr val="2B1D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test Acc</a:t>
                      </a:r>
                    </a:p>
                  </a:txBody>
                  <a:tcPr anchor="ctr">
                    <a:solidFill>
                      <a:srgbClr val="2B1D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漏抓 / 誤判</a:t>
                      </a:r>
                    </a:p>
                  </a:txBody>
                  <a:tcPr anchor="ctr">
                    <a:solidFill>
                      <a:srgbClr val="2B1D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B2B2B"/>
                          </a:solidFill>
                          <a:latin typeface="Microsoft JhengHei"/>
                        </a:rPr>
                        <a:t>水洗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B2B2B"/>
                          </a:solidFill>
                          <a:latin typeface="Microsoft JhengHei"/>
                        </a:rPr>
                        <a:t>1,346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B2B2B"/>
                          </a:solidFill>
                          <a:latin typeface="Microsoft JhengHei"/>
                        </a:rPr>
                        <a:t>97.0%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B2B2B"/>
                          </a:solidFill>
                          <a:latin typeface="Microsoft JhengHei"/>
                        </a:rPr>
                        <a:t>5 /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B2B2B"/>
                          </a:solidFill>
                          <a:latin typeface="Microsoft JhengHei"/>
                        </a:rPr>
                        <a:t>日曬</a:t>
                      </a:r>
                    </a:p>
                  </a:txBody>
                  <a:tcPr anchor="ctr">
                    <a:solidFill>
                      <a:srgbClr val="F3F0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B2B2B"/>
                          </a:solidFill>
                          <a:latin typeface="Microsoft JhengHei"/>
                        </a:rPr>
                        <a:t>1,015</a:t>
                      </a:r>
                    </a:p>
                  </a:txBody>
                  <a:tcPr anchor="ctr">
                    <a:solidFill>
                      <a:srgbClr val="F3F0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B2B2B"/>
                          </a:solidFill>
                          <a:latin typeface="Microsoft JhengHei"/>
                        </a:rPr>
                        <a:t>99.3%</a:t>
                      </a:r>
                    </a:p>
                  </a:txBody>
                  <a:tcPr anchor="ctr">
                    <a:solidFill>
                      <a:srgbClr val="F3F0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B2B2B"/>
                          </a:solidFill>
                          <a:latin typeface="Microsoft JhengHei"/>
                        </a:rPr>
                        <a:t>1 / 0</a:t>
                      </a:r>
                    </a:p>
                  </a:txBody>
                  <a:tcPr anchor="ctr">
                    <a:solidFill>
                      <a:srgbClr val="F3F0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B2B2B"/>
                          </a:solidFill>
                          <a:latin typeface="Microsoft JhengHei"/>
                        </a:rPr>
                        <a:t>蜜處理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B2B2B"/>
                          </a:solidFill>
                          <a:latin typeface="Microsoft JhengHei"/>
                        </a:rPr>
                        <a:t>1,012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B2B2B"/>
                          </a:solidFill>
                          <a:latin typeface="Microsoft JhengHei"/>
                        </a:rPr>
                        <a:t>99.3%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B2B2B"/>
                          </a:solidFill>
                          <a:latin typeface="Microsoft JhengHei"/>
                        </a:rPr>
                        <a:t>1 / 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3840480"/>
            <a:ext cx="5303520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B2B2B"/>
                </a:solidFill>
                <a:latin typeface="Microsoft JhengHei"/>
              </a:rPr>
              <a:t>日曬、蜜處理反而比水洗準，但不宜直接解讀為比較好分：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B2B2B"/>
                </a:solidFill>
                <a:latin typeface="Microsoft JhengHei"/>
              </a:rPr>
              <a:t>① 兩批只在單一天、單一條件拍攝，train 與 test 條件幾乎相同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B2B2B"/>
                </a:solidFill>
                <a:latin typeface="Microsoft JhengHei"/>
              </a:rPr>
              <a:t>② test 僅約 150~200 張，錯 1 張差約 0.5~0.7 個百分點，差距在統計上不顯著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B1D14"/>
                </a:solidFill>
                <a:latin typeface="Microsoft JhengHei"/>
              </a:rPr>
              <a:t>被判錯的照片（test 集）</a:t>
            </a:r>
          </a:p>
        </p:txBody>
      </p:sp>
      <p:pic>
        <p:nvPicPr>
          <p:cNvPr id="3" name="Picture 2" descr="water_missed_0.089_P_20261007_20584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1828800" cy="1828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108960"/>
            <a:ext cx="2560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B03A2E"/>
                </a:solidFill>
                <a:latin typeface="Microsoft JhengHei"/>
              </a:rPr>
              <a:t>水洗 漏抓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B03A2E"/>
                </a:solidFill>
                <a:latin typeface="Microsoft JhengHei"/>
              </a:rPr>
              <a:t>p_bad 0.089</a:t>
            </a:r>
          </a:p>
        </p:txBody>
      </p:sp>
      <p:pic>
        <p:nvPicPr>
          <p:cNvPr id="5" name="Picture 4" descr="water_missed_0.119_P_20261007_21082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4992" y="1234440"/>
            <a:ext cx="182880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364992" y="3108960"/>
            <a:ext cx="2560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B03A2E"/>
                </a:solidFill>
                <a:latin typeface="Microsoft JhengHei"/>
              </a:rPr>
              <a:t>水洗 漏抓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B03A2E"/>
                </a:solidFill>
                <a:latin typeface="Microsoft JhengHei"/>
              </a:rPr>
              <a:t>p_bad 0.119</a:t>
            </a:r>
          </a:p>
        </p:txBody>
      </p:sp>
      <p:pic>
        <p:nvPicPr>
          <p:cNvPr id="7" name="Picture 6" descr="water_missed_0.417_P_20261008_15190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1344" y="1234440"/>
            <a:ext cx="1828800" cy="1828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81344" y="3108960"/>
            <a:ext cx="2560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B03A2E"/>
                </a:solidFill>
                <a:latin typeface="Microsoft JhengHei"/>
              </a:rPr>
              <a:t>水洗 漏抓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B03A2E"/>
                </a:solidFill>
                <a:latin typeface="Microsoft JhengHei"/>
              </a:rPr>
              <a:t>p_bad 0.417</a:t>
            </a:r>
          </a:p>
        </p:txBody>
      </p:sp>
      <p:pic>
        <p:nvPicPr>
          <p:cNvPr id="9" name="Picture 8" descr="water_missed_0.453_P_20261008_14541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7696" y="1234440"/>
            <a:ext cx="1828800" cy="1828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997696" y="3108960"/>
            <a:ext cx="2560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B03A2E"/>
                </a:solidFill>
                <a:latin typeface="Microsoft JhengHei"/>
              </a:rPr>
              <a:t>水洗 漏抓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B03A2E"/>
                </a:solidFill>
                <a:latin typeface="Microsoft JhengHei"/>
              </a:rPr>
              <a:t>p_bad 0.453</a:t>
            </a:r>
          </a:p>
        </p:txBody>
      </p:sp>
      <p:pic>
        <p:nvPicPr>
          <p:cNvPr id="11" name="Picture 10" descr="water_missed_0.490_P_20261007_20565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794760"/>
            <a:ext cx="1828800" cy="1828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5669280"/>
            <a:ext cx="2560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B03A2E"/>
                </a:solidFill>
                <a:latin typeface="Microsoft JhengHei"/>
              </a:rPr>
              <a:t>水洗 漏抓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B03A2E"/>
                </a:solidFill>
                <a:latin typeface="Microsoft JhengHei"/>
              </a:rPr>
              <a:t>p_bad 0.490</a:t>
            </a:r>
          </a:p>
        </p:txBody>
      </p:sp>
      <p:pic>
        <p:nvPicPr>
          <p:cNvPr id="13" name="Picture 12" descr="water_false_alarm_0.768_P_20261008_15440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64992" y="3794760"/>
            <a:ext cx="1828800" cy="1828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364992" y="5669280"/>
            <a:ext cx="2560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B1D14"/>
                </a:solidFill>
                <a:latin typeface="Microsoft JhengHei"/>
              </a:rPr>
              <a:t>水洗 誤判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2B1D14"/>
                </a:solidFill>
                <a:latin typeface="Microsoft JhengHei"/>
              </a:rPr>
              <a:t>p_bad 0.768</a:t>
            </a:r>
          </a:p>
        </p:txBody>
      </p:sp>
      <p:pic>
        <p:nvPicPr>
          <p:cNvPr id="15" name="Picture 14" descr="sun_missed_0.267_P_20261014_16414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81344" y="3794760"/>
            <a:ext cx="1828800" cy="1828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181344" y="5669280"/>
            <a:ext cx="2560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B03A2E"/>
                </a:solidFill>
                <a:latin typeface="Microsoft JhengHei"/>
              </a:rPr>
              <a:t>日曬 漏抓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B03A2E"/>
                </a:solidFill>
                <a:latin typeface="Microsoft JhengHei"/>
              </a:rPr>
              <a:t>p_bad 0.267</a:t>
            </a:r>
          </a:p>
        </p:txBody>
      </p:sp>
      <p:pic>
        <p:nvPicPr>
          <p:cNvPr id="17" name="Picture 16" descr="honey_missed_0.405_P_20261014_135247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97696" y="3794760"/>
            <a:ext cx="1828800" cy="1828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997696" y="5669280"/>
            <a:ext cx="2560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B03A2E"/>
                </a:solidFill>
                <a:latin typeface="Microsoft JhengHei"/>
              </a:rPr>
              <a:t>蜜處理 漏抓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B03A2E"/>
                </a:solidFill>
                <a:latin typeface="Microsoft JhengHei"/>
              </a:rPr>
              <a:t>p_bad 0.405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p_bad 越低的漏抓，代表模型越「理直氣壯地錯」；水洗 0.089、0.119 兩張優先人工複查標籤。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B1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Microsoft JhengHei"/>
              </a:rPr>
              <a:t>下週計劃</a:t>
            </a:r>
          </a:p>
        </p:txBody>
      </p:sp>
      <p:sp>
        <p:nvSpPr>
          <p:cNvPr id="3" name="Oval 2"/>
          <p:cNvSpPr/>
          <p:nvPr/>
        </p:nvSpPr>
        <p:spPr>
          <a:xfrm>
            <a:off x="822960" y="1554480"/>
            <a:ext cx="640080" cy="640080"/>
          </a:xfrm>
          <a:prstGeom prst="ellipse">
            <a:avLst/>
          </a:prstGeom>
          <a:solidFill>
            <a:srgbClr val="C77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1554480"/>
            <a:ext cx="9601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Microsoft JhengHei"/>
              </a:rPr>
              <a:t>人工確認水洗高信心度錯誤的標籤（205845、210823 等）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743200"/>
            <a:ext cx="640080" cy="640080"/>
          </a:xfrm>
          <a:prstGeom prst="ellipse">
            <a:avLst/>
          </a:prstGeom>
          <a:solidFill>
            <a:srgbClr val="C77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743200"/>
            <a:ext cx="9601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Microsoft JhengHei"/>
              </a:rPr>
              <a:t>補拍日曬、蜜處理獨立驗證集（各約 100 張，不同日期 / 光線）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931920"/>
            <a:ext cx="640080" cy="640080"/>
          </a:xfrm>
          <a:prstGeom prst="ellipse">
            <a:avLst/>
          </a:prstGeom>
          <a:solidFill>
            <a:srgbClr val="C77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393192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3931920"/>
            <a:ext cx="9601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Microsoft JhengHei"/>
              </a:rPr>
              <a:t>用驗證集 p_bad 分佈調整判定門檻，畫 ROC / PR 曲線；Grad-CAM 檢查模型注意位置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5120640"/>
            <a:ext cx="640080" cy="640080"/>
          </a:xfrm>
          <a:prstGeom prst="ellipse">
            <a:avLst/>
          </a:prstGeom>
          <a:solidFill>
            <a:srgbClr val="C77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12064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5120640"/>
            <a:ext cx="9601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Microsoft JhengHei"/>
              </a:rPr>
              <a:t>比較 ResNet18 / ResNet50 / EfficientNet-B0；評估處理法自動判斷與 Jetson Nano 部署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963</Words>
  <Application>Microsoft Office PowerPoint</Application>
  <PresentationFormat>寬螢幕</PresentationFormat>
  <Paragraphs>173</Paragraphs>
  <Slides>11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11</vt:i4>
      </vt:variant>
    </vt:vector>
  </HeadingPairs>
  <TitlesOfParts>
    <vt:vector size="16" baseType="lpstr">
      <vt:lpstr>Microsoft JhengHei</vt:lpstr>
      <vt:lpstr>Arial</vt:lpstr>
      <vt:lpstr>Calibri</vt:lpstr>
      <vt:lpstr>Consolas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subject/>
  <dc:creator/>
  <cp:keywords/>
  <dc:description>generated using python-pptx</dc:description>
  <cp:lastModifiedBy>泰羲 吳</cp:lastModifiedBy>
  <cp:revision>2</cp:revision>
  <dcterms:created xsi:type="dcterms:W3CDTF">2013-01-27T09:14:16Z</dcterms:created>
  <dcterms:modified xsi:type="dcterms:W3CDTF">2026-10-15T10:28:36Z</dcterms:modified>
  <cp:category/>
</cp:coreProperties>
</file>