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咖啡豆分選機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E8DCCB"/>
                </a:solidFill>
                <a:latin typeface="Microsoft JhengHei"/>
              </a:rPr>
              <a:t>週工作進度報告：日曬 / 蜜處理資料集與模型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77D2E"/>
                </a:solidFill>
                <a:latin typeface="Microsoft JhengHei"/>
              </a:rPr>
              <a:t>2026/10/08 – 10/14　｜　ResNet18 好豆 / 壞豆二分類，依處理法各一個模型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本週成果：三種處理法皆完成第一版模型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99.3%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日曬 test 準確率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漏抓 1、誤判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99.3%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蜜處理 test 準確率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漏抓 1、誤判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97.0%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水洗 test 準確率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漏抓 5、誤判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554480"/>
            <a:ext cx="2606040" cy="301752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19202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77D2E"/>
                </a:solidFill>
                <a:latin typeface="Microsoft JhengHei"/>
              </a:rPr>
              <a:t>3,373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31089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三種處理法圖片總數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61188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Microsoft JhengHei"/>
              </a:rPr>
              <a:t>水洗＋日曬＋蜜處理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642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新增：壞豆信心度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 </a:t>
            </a: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p_bad，以及每次訓練後自動列出誤判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 / </a:t>
            </a:r>
            <a:r>
              <a:rPr sz="1700" b="0" dirty="0" err="1">
                <a:solidFill>
                  <a:srgbClr val="2B2B2B"/>
                </a:solidFill>
                <a:latin typeface="Microsoft JhengHei"/>
              </a:rPr>
              <a:t>漏抓的照片</a:t>
            </a:r>
            <a:r>
              <a:rPr sz="1700" b="0" dirty="0">
                <a:solidFill>
                  <a:srgbClr val="2B2B2B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資料集與切分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處理法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good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bad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合計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train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val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test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水洗 water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680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1,346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942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日曬 sun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509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506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1,015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711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152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152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蜜處理 honey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509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1,012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B2B2B"/>
                          </a:solidFill>
                          <a:latin typeface="Microsoft JhengHei"/>
                        </a:rPr>
                        <a:t>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064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B2B2B"/>
                </a:solidFill>
                <a:latin typeface="Microsoft JhengHei"/>
              </a:rPr>
              <a:t>• </a:t>
            </a:r>
            <a:r>
              <a:rPr sz="1500" b="0" dirty="0" err="1">
                <a:solidFill>
                  <a:srgbClr val="2B2B2B"/>
                </a:solidFill>
                <a:latin typeface="Microsoft JhengHei"/>
              </a:rPr>
              <a:t>逐顆挑選、單顆單獨拍攝，標籤由資料夾名稱</a:t>
            </a:r>
            <a:r>
              <a:rPr sz="1500" b="0" dirty="0">
                <a:solidFill>
                  <a:srgbClr val="2B2B2B"/>
                </a:solidFill>
                <a:latin typeface="Microsoft JhengHei"/>
              </a:rPr>
              <a:t> good / bad </a:t>
            </a:r>
            <a:r>
              <a:rPr sz="1500" b="0" dirty="0" err="1">
                <a:solidFill>
                  <a:srgbClr val="2B2B2B"/>
                </a:solidFill>
                <a:latin typeface="Microsoft JhengHei"/>
              </a:rPr>
              <a:t>取得</a:t>
            </a:r>
            <a:endParaRPr sz="1500" b="0" dirty="0">
              <a:solidFill>
                <a:srgbClr val="2B2B2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04748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prepare_dataset.py：偵測豆子位置，裁成 256×256 方形小圖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522976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• 依「類別 × 拍攝日期」分層抽樣切成 70 / 15 / 15（seed = 42），存成 splits/&lt;method&gt;.json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98464"/>
            <a:ext cx="110642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B2B2B"/>
                </a:solidFill>
                <a:latin typeface="Microsoft JhengHei"/>
              </a:rPr>
              <a:t>• good : bad 約 1 : 1，不需處理類別不均；日曬、蜜處理皆為單日拍攝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訓練設定（三種處理法相同）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065074"/>
              </p:ext>
            </p:extLst>
          </p:nvPr>
        </p:nvGraphicFramePr>
        <p:xfrm>
          <a:off x="548640" y="146304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設定</a:t>
                      </a:r>
                    </a:p>
                  </a:txBody>
                  <a:tcPr anchor="ctr">
                    <a:solidFill>
                      <a:srgbClr val="2B1D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ResNet18（ImageNet 預訓練）＋新的線性分類頭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輸入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256×256 單顆豆子圖 → 224×224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Optimizer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AdamW，lr 1e-4，weight decay 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Scheduler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ReduceLROnPlateau：val loss 連續 3 epoch 無進步 → lr 減半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B2B2B"/>
                          </a:solidFill>
                          <a:latin typeface="Microsoft JhengHei"/>
                        </a:rPr>
                        <a:t>CrossEntropy，label</a:t>
                      </a:r>
                      <a:r>
                        <a:rPr sz="1600" dirty="0">
                          <a:solidFill>
                            <a:srgbClr val="2B2B2B"/>
                          </a:solidFill>
                          <a:latin typeface="Microsoft JhengHei"/>
                        </a:rPr>
                        <a:t> smoothing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正則化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Dropout 0.5（分類頭前）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Batch / Epoch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batch 16，最多 30 epoch，early stopping patience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選模型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以 val macro-F1 挑最佳 epoch（同分取 val loss 較低者）</a:t>
                      </a:r>
                    </a:p>
                  </a:txBody>
                  <a:tcPr anchor="ctr">
                    <a:solidFill>
                      <a:srgbClr val="F3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B2B2B"/>
                          </a:solidFill>
                          <a:latin typeface="Microsoft JhengHei"/>
                        </a:rPr>
                        <a:t>其他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B2B2B"/>
                          </a:solidFill>
                          <a:latin typeface="Microsoft JhengHei"/>
                        </a:rPr>
                        <a:t>seed 42；GPU </a:t>
                      </a:r>
                      <a:r>
                        <a:rPr sz="1600" dirty="0" err="1">
                          <a:solidFill>
                            <a:srgbClr val="2B2B2B"/>
                          </a:solidFill>
                          <a:latin typeface="Microsoft JhengHei"/>
                        </a:rPr>
                        <a:t>自動啟用混合精度</a:t>
                      </a:r>
                      <a:r>
                        <a:rPr sz="1600" dirty="0">
                          <a:solidFill>
                            <a:srgbClr val="2B2B2B"/>
                          </a:solidFill>
                          <a:latin typeface="Microsoft JhengHei"/>
                        </a:rPr>
                        <a:t> (AMP)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①　train.py / dataset.py：訓練核心與資料增強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669280" cy="33832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2120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model = CoffeeBeanClassifier(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num_classes=2, arch="resnet18", dropout=0.5)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criterion = nn.CrossEntropyLoss(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weight=class_weights, label_smoothing=0.1)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optimizer = optim.AdamW(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model.parameters(), lr=1e-4, weight_decay=0.05)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scheduler = optim.lr_scheduler.ReduceLROnPlateau(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    optimizer, mode="min", factor=0.5, patience=3)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# epochs=30, batch_size=16, patience=8, seed=42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Consolas"/>
              </a:rPr>
              <a:t># 以 val macro-F1 挑最佳權重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5166360" cy="40233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0840" y="1645920"/>
            <a:ext cx="47091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RandomResizedCrop(224, scale=(0.6, 1.0),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      ratio=(0.85, 1.15)),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RandomHorizontalFlip(),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RandomVerticalFlip(),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RandomRotation(degrees=30),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ColorJitter(brightness=0.3, contrast=0.3,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saturation=0.2, hue=0.05),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ToTensor(),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Normalize(IMAGENET_MEAN, IMAGENET_STD),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RandomErasing(p=0.25, scale=(0.02, 0.15),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     value="random"),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5669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三項正則化：Dropout 減少特徵依賴、weight decay 限制權重大小、label smoothing 避免過度自信。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669280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Microsoft JhengHei"/>
              </a:rPr>
              <a:t>資料增強只用在訓練集；val / test 只做 Resize + 正規化。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程式碼 ②　壞豆信心度與誤判 / 漏抓清單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predict.py — Predictor.predict()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bad_idx = self.class_names.index("bad")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probs = torch.softmax(self.model(x), dim=1)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scores, indices = probs.max(dim=1)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results += [(self.class_names[i], s, b)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for i, s, b in zip(indices.tolist(),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scores.tolist(), probs[:, bad_idx].tolist())]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回傳 (判定類別, 判定機率, p_bad)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645920"/>
            <a:ext cx="489204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# train.py — analyze_errors()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for (path, label), p in zip(samples, probs):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pred = int(p.argmax())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p_bad = float(p[bad_idx])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writer.writerow([..., p_bad, int(pred == label)])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if pred != label: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(missed if label == bad_idx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         else false_alarm).append((path, p_bad))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missed.sort(key=lambda r: r[1])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Consolas"/>
              </a:rPr>
              <a:t>false_alarm.sort(key=lambda r: -r[1])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486400" cy="723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p_bad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 = </a:t>
            </a: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模型認為是壞豆的機率，不論判成哪一類都會給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。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可自訂門檻（如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p_bad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 &gt; 0.3）減少漏抓，或把 0.3~0.7 </a:t>
            </a: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的豆子交人工複檢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486400"/>
            <a:ext cx="5349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6B6B6B"/>
                </a:solidFill>
                <a:latin typeface="Microsoft JhengHei"/>
              </a:rPr>
              <a:t>漏抓（壞豆判成好豆）比誤判嚴重，所以分開列出</a:t>
            </a:r>
            <a:r>
              <a:rPr sz="1400" b="0" dirty="0">
                <a:solidFill>
                  <a:srgbClr val="6B6B6B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日曬 / 蜜處理：訓練曲線與混淆矩陣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日曬　最佳 epoch 19，test 99.3%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2344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7D2E"/>
                </a:solidFill>
                <a:latin typeface="Microsoft JhengHei"/>
              </a:rPr>
              <a:t>蜜處理　最佳 epoch 21，test 99.3%</a:t>
            </a:r>
          </a:p>
        </p:txBody>
      </p:sp>
      <p:pic>
        <p:nvPicPr>
          <p:cNvPr id="5" name="Picture 4" descr="sun_1014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577840" cy="1992086"/>
          </a:xfrm>
          <a:prstGeom prst="rect">
            <a:avLst/>
          </a:prstGeom>
        </p:spPr>
      </p:pic>
      <p:pic>
        <p:nvPicPr>
          <p:cNvPr id="6" name="Picture 5" descr="honey_1014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45920"/>
            <a:ext cx="5577840" cy="1992086"/>
          </a:xfrm>
          <a:prstGeom prst="rect">
            <a:avLst/>
          </a:prstGeom>
        </p:spPr>
      </p:pic>
      <p:pic>
        <p:nvPicPr>
          <p:cNvPr id="7" name="Picture 6" descr="sun_1014_cm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840480"/>
            <a:ext cx="3291840" cy="2743200"/>
          </a:xfrm>
          <a:prstGeom prst="rect">
            <a:avLst/>
          </a:prstGeom>
        </p:spPr>
      </p:pic>
      <p:pic>
        <p:nvPicPr>
          <p:cNvPr id="8" name="Picture 7" descr="honey_1014_cm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840480"/>
            <a:ext cx="32918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水洗（重新訓練）：訓練曲線與混淆矩陣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1D14"/>
                </a:solidFill>
                <a:latin typeface="Microsoft JhengHei"/>
              </a:rPr>
              <a:t>最佳 epoch 10，val macro-F1 0.985，test 97.0%</a:t>
            </a:r>
          </a:p>
        </p:txBody>
      </p:sp>
      <p:pic>
        <p:nvPicPr>
          <p:cNvPr id="4" name="Picture 3" descr="water_1014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675120" cy="2383971"/>
          </a:xfrm>
          <a:prstGeom prst="rect">
            <a:avLst/>
          </a:prstGeom>
        </p:spPr>
      </p:pic>
      <p:pic>
        <p:nvPicPr>
          <p:cNvPr id="5" name="Picture 4" descr="water_1014_cm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371600"/>
            <a:ext cx="4828032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89120"/>
            <a:ext cx="6675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test 202 張判錯 6 張：漏抓 5、誤判 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與 10/08 版本（97.5%）差約 1 張，屬隨機波動範圍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JhengHei"/>
              </a:rPr>
              <a:t>為了產出錯誤清單，用新版 train.py 重訓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B1D14"/>
                </a:solidFill>
                <a:latin typeface="Microsoft JhengHei"/>
              </a:rPr>
              <a:t>被判錯的照片（test 集）</a:t>
            </a:r>
          </a:p>
        </p:txBody>
      </p:sp>
      <p:pic>
        <p:nvPicPr>
          <p:cNvPr id="3" name="Picture 2" descr="water_missed_0.089_P_20261007_2058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1089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水洗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0.089</a:t>
            </a:r>
          </a:p>
        </p:txBody>
      </p:sp>
      <p:pic>
        <p:nvPicPr>
          <p:cNvPr id="5" name="Picture 4" descr="water_missed_0.119_P_20261007_2108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23444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64992" y="31089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水洗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0.119</a:t>
            </a:r>
          </a:p>
        </p:txBody>
      </p:sp>
      <p:pic>
        <p:nvPicPr>
          <p:cNvPr id="7" name="Picture 6" descr="water_missed_0.417_P_20261008_1519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23444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1344" y="31089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水洗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0.417</a:t>
            </a:r>
          </a:p>
        </p:txBody>
      </p:sp>
      <p:pic>
        <p:nvPicPr>
          <p:cNvPr id="9" name="Picture 8" descr="water_missed_0.453_P_20261008_1454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123444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97696" y="31089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水洗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0.453</a:t>
            </a:r>
          </a:p>
        </p:txBody>
      </p:sp>
      <p:pic>
        <p:nvPicPr>
          <p:cNvPr id="11" name="Picture 10" descr="water_missed_0.490_P_20261007_20565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9476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669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水洗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0.490</a:t>
            </a:r>
          </a:p>
        </p:txBody>
      </p:sp>
      <p:pic>
        <p:nvPicPr>
          <p:cNvPr id="13" name="Picture 12" descr="water_false_alarm_0.768_P_20261008_15440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79476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64992" y="5669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B1D14"/>
                </a:solidFill>
                <a:latin typeface="Microsoft JhengHei"/>
              </a:rPr>
              <a:t>水洗 誤判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B1D14"/>
                </a:solidFill>
                <a:latin typeface="Microsoft JhengHei"/>
              </a:rPr>
              <a:t>p_bad 0.768</a:t>
            </a:r>
          </a:p>
        </p:txBody>
      </p:sp>
      <p:pic>
        <p:nvPicPr>
          <p:cNvPr id="15" name="Picture 14" descr="sun_missed_0.267_P_20261014_16414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3794760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81344" y="5669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日曬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0.267</a:t>
            </a:r>
          </a:p>
        </p:txBody>
      </p:sp>
      <p:pic>
        <p:nvPicPr>
          <p:cNvPr id="17" name="Picture 16" descr="honey_missed_0.405_P_20261014_13524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7696" y="3794760"/>
            <a:ext cx="182880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97696" y="56692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蜜處理 漏抓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JhengHei"/>
              </a:rPr>
              <a:t>p_bad 0.405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</a:rPr>
              <a:t>下週計劃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人工確認水洗高信心度錯誤的標籤（205845、210823 等）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補拍日曬、蜜處理獨立驗證集（各約 100 張，不同日期 / 光線）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用驗證集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p_bad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分佈調整判定門檻，畫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ROC / PR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曲線；Grad-CAM</a:t>
            </a:r>
            <a:r>
              <a:rPr sz="2000" b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Microsoft JhengHei"/>
              </a:rPr>
              <a:t>檢查模型注意位置</a:t>
            </a:r>
            <a:endParaRPr sz="2000" b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C7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12064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icrosoft JhengHei"/>
              </a:rPr>
              <a:t>比較 ResNet18 / ResNet50 / EfficientNet-B0；評估處理法自動判斷與 Jetson Nano 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886</Words>
  <Application>Microsoft Office PowerPoint</Application>
  <PresentationFormat>寬螢幕</PresentationFormat>
  <Paragraphs>151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泰羲 吳</cp:lastModifiedBy>
  <cp:revision>3</cp:revision>
  <dcterms:created xsi:type="dcterms:W3CDTF">2013-01-27T09:14:16Z</dcterms:created>
  <dcterms:modified xsi:type="dcterms:W3CDTF">2026-10-15T13:18:44Z</dcterms:modified>
  <cp:category/>
</cp:coreProperties>
</file>