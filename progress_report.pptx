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18" autoAdjust="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2B1D14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ResNet18</c:v>
                </c:pt>
                <c:pt idx="1">
                  <c:v>EfficientNet-B0</c:v>
                </c:pt>
                <c:pt idx="2">
                  <c:v>ResNet50</c:v>
                </c:pt>
                <c:pt idx="3">
                  <c:v>ResNet50 + 正則化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0.93200000000000005</c:v>
                </c:pt>
                <c:pt idx="1">
                  <c:v>0.93200000000000005</c:v>
                </c:pt>
                <c:pt idx="2">
                  <c:v>0.94799999999999995</c:v>
                </c:pt>
                <c:pt idx="3">
                  <c:v>0.95499999999999996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AB9-48B1-BCEE-57308558B4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Macro-F1</c:v>
                </c:pt>
              </c:strCache>
            </c:strRef>
          </c:tx>
          <c:spPr>
            <a:solidFill>
              <a:srgbClr val="C77D2E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ResNet18</c:v>
                </c:pt>
                <c:pt idx="1">
                  <c:v>EfficientNet-B0</c:v>
                </c:pt>
                <c:pt idx="2">
                  <c:v>ResNet50</c:v>
                </c:pt>
                <c:pt idx="3">
                  <c:v>ResNet50 + 正則化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0.91600000000000004</c:v>
                </c:pt>
                <c:pt idx="1">
                  <c:v>0.91700000000000004</c:v>
                </c:pt>
                <c:pt idx="2">
                  <c:v>0.93500000000000005</c:v>
                </c:pt>
                <c:pt idx="3">
                  <c:v>0.94499999999999995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AB9-48B1-BCEE-57308558B41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8DCC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97"/>
          <c:min val="0.9"/>
        </c:scaling>
        <c:delete val="0"/>
        <c:axPos val="l"/>
        <c:majorGridlines>
          <c:spPr>
            <a:ln>
              <a:solidFill>
                <a:srgbClr val="E8DCCB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  <c:majorUnit val="0.02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400">
          <a:latin typeface="Microsoft JhengHei"/>
        </a:defRPr>
      </a:pPr>
      <a:endParaRPr lang="zh-TW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9152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教授好，我先講結論。這週我把專案從 18 種缺陷分類，改成好豆、壞豆二分類，也併入了 USK-Coffee 這個公開資料集。資料變多以後，模型在測試集上的準確率是 95.5%，F1 是 0.945，是目前最好的結果。不過壞豆的漏抓率還是偏高，我後面會說明。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三個數字：測試準確率 95.5%、macro-F1 0.945，這是目前最好的結果。但壞豆的 recall 只有 0.90，也就是 10% 的壞豆會被放過去，這是下週要處理的重點。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這週有四件事。第一，改成二分類，因為有些類別連我自己看都不確定。第二，處理資料，併入 USK 並清除問題資料。第三，比較三種模型。第四，解決 overfitting。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我併入 USK-Coffee，訓練集約 5500 張，驗證和測試各約 1700 張。三個重點：只擴增訓練集，因為擴增圖是從原圖變形來的，放進測試集分數會虛高。Normal 是 200×200 其他是 500×500，模型可能偷懶只看糊不糊，所以統一放大。還有兩張內容一模一樣卻標成不同類別的圖，已排除。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三個模型在同樣資料上比，ResNet50 的測試準確率約 94.8%，ResNet18 和 EfficientNet-B0 都是 93.2%。最右邊是 ResNet50 加上正則化，後面會說明。縱軸從 0.90 開始，是為了看清楚差距。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ResNet50 的訓練 loss 掉到接近 0，驗證 loss 卻一直上下震盪，代表它在背答案。所以我加了 Dropout、weight decay 和 label smoothing。加完之後訓練和驗證的差距縮小，曲線穩定很多。訓練 loss 停在 0.24 左右是 label smoothing 的下限，不是沒學好。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混淆矩陣是這樣。好豆抓得很準，recall 0.978，只有 27 顆被誤判成壞豆。壞豆 recall 只有 0.90，有 50 顆壞豆被放過去變成好豆。這是比較嚴重的錯誤，因為壞豆混進好豆會影響品質。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有四個限制。壞豆漏抓。好壞標準還沒統一，例如偏黃算不算壞，影響大約 60 張。自拍的好豆只剩 35 張，所以目前的分數主要反映 USK 資料集，不一定代表我實際拍的豆子也能這麼準。還有 Normal 的解析度問題，我處理了，但需要持續檢查。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下週有四件事。補拍自己的豆子，統一好壞標準，用新資料重訓並分開評估自拍和</a:t>
            </a:r>
            <a:r>
              <a:rPr dirty="0"/>
              <a:t> </a:t>
            </a:r>
            <a:r>
              <a:rPr dirty="0" err="1"/>
              <a:t>USK，最後調整判斷門檻提高壞豆</a:t>
            </a:r>
            <a:r>
              <a:rPr dirty="0"/>
              <a:t> recall。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03120"/>
            <a:ext cx="105156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TW" altLang="en-US" sz="5400" b="1" dirty="0">
                <a:solidFill>
                  <a:srgbClr val="FFFFFF"/>
                </a:solidFill>
                <a:latin typeface="Microsoft JhengHei"/>
              </a:rPr>
              <a:t>本週進度報告</a:t>
            </a:r>
            <a:endParaRPr sz="54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E8DCCB"/>
                </a:solidFill>
                <a:latin typeface="Microsoft JhengHei"/>
              </a:rPr>
              <a:t>從 18 </a:t>
            </a:r>
            <a:r>
              <a:rPr sz="2400" b="0" dirty="0" err="1">
                <a:solidFill>
                  <a:srgbClr val="E8DCCB"/>
                </a:solidFill>
                <a:latin typeface="Microsoft JhengHei"/>
              </a:rPr>
              <a:t>類分類到好豆</a:t>
            </a:r>
            <a:r>
              <a:rPr lang="en-US" sz="2400" b="0" dirty="0">
                <a:solidFill>
                  <a:srgbClr val="E8DCCB"/>
                </a:solidFill>
                <a:latin typeface="Microsoft JhengHei"/>
              </a:rPr>
              <a:t>/</a:t>
            </a:r>
            <a:r>
              <a:rPr sz="2400" b="0" dirty="0" err="1">
                <a:solidFill>
                  <a:srgbClr val="E8DCCB"/>
                </a:solidFill>
                <a:latin typeface="Microsoft JhengHei"/>
              </a:rPr>
              <a:t>壞豆二分類</a:t>
            </a:r>
            <a:endParaRPr sz="2400" b="0" dirty="0">
              <a:solidFill>
                <a:srgbClr val="E8DCCB"/>
              </a:solidFill>
              <a:latin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77D2E"/>
                </a:solidFill>
                <a:latin typeface="Microsoft JhengHei"/>
              </a:rPr>
              <a:t>2026/09/24 – 09/30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1D14"/>
                </a:solidFill>
                <a:latin typeface="Microsoft JhengHei"/>
              </a:rPr>
              <a:t>先講結論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474720" cy="283464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82880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1">
                <a:solidFill>
                  <a:srgbClr val="2B1D14"/>
                </a:solidFill>
                <a:latin typeface="Microsoft JhengHei"/>
              </a:rPr>
              <a:t>95.5%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31089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2B2B"/>
                </a:solidFill>
                <a:latin typeface="Microsoft JhengHei"/>
              </a:rPr>
              <a:t>測試集準確率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6576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</a:rPr>
              <a:t>94.7% → 95.5%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554480"/>
            <a:ext cx="3474720" cy="283464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1999" y="182880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1">
                <a:solidFill>
                  <a:srgbClr val="2B1D14"/>
                </a:solidFill>
                <a:latin typeface="Microsoft JhengHei"/>
              </a:rPr>
              <a:t>0.945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31089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dirty="0" err="1">
                <a:solidFill>
                  <a:srgbClr val="2B2B2B"/>
                </a:solidFill>
                <a:latin typeface="Microsoft JhengHei"/>
              </a:rPr>
              <a:t>測試集</a:t>
            </a:r>
            <a:r>
              <a:rPr sz="2000" b="1" dirty="0">
                <a:solidFill>
                  <a:srgbClr val="2B2B2B"/>
                </a:solidFill>
                <a:latin typeface="Microsoft JhengHei"/>
              </a:rPr>
              <a:t> macro-F1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36576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</a:rPr>
              <a:t>0.936 → 0.945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554480"/>
            <a:ext cx="3474720" cy="283464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1">
                <a:solidFill>
                  <a:srgbClr val="B03A2E"/>
                </a:solidFill>
                <a:latin typeface="Microsoft JhengHei"/>
              </a:rPr>
              <a:t>0.90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2B2B"/>
                </a:solidFill>
                <a:latin typeface="Microsoft JhengHei"/>
              </a:rPr>
              <a:t>壞豆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6576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</a:rPr>
              <a:t>501 顆壞豆漏抓 50 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1106424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dirty="0" err="1">
                <a:solidFill>
                  <a:srgbClr val="2B1D14"/>
                </a:solidFill>
                <a:latin typeface="Microsoft JhengHei"/>
              </a:rPr>
              <a:t>這週的重點：</a:t>
            </a:r>
            <a:r>
              <a:rPr sz="1700" b="0" dirty="0" err="1">
                <a:solidFill>
                  <a:srgbClr val="2B2B2B"/>
                </a:solidFill>
                <a:latin typeface="Microsoft JhengHei"/>
              </a:rPr>
              <a:t>把相近類別合併，改成只問「好還是壞</a:t>
            </a:r>
            <a:r>
              <a:rPr sz="1700" b="0" dirty="0">
                <a:solidFill>
                  <a:srgbClr val="2B2B2B"/>
                </a:solidFill>
                <a:latin typeface="Microsoft JhengHei"/>
              </a:rPr>
              <a:t>」，</a:t>
            </a:r>
            <a:r>
              <a:rPr sz="1700" b="0" dirty="0" err="1">
                <a:solidFill>
                  <a:srgbClr val="2B2B2B"/>
                </a:solidFill>
                <a:latin typeface="Microsoft JhengHei"/>
              </a:rPr>
              <a:t>並併入</a:t>
            </a:r>
            <a:r>
              <a:rPr sz="1700" b="0" dirty="0">
                <a:solidFill>
                  <a:srgbClr val="2B2B2B"/>
                </a:solidFill>
                <a:latin typeface="Microsoft JhengHei"/>
              </a:rPr>
              <a:t> USK-Coffee </a:t>
            </a:r>
            <a:r>
              <a:rPr sz="1700" b="0" dirty="0" err="1">
                <a:solidFill>
                  <a:srgbClr val="2B2B2B"/>
                </a:solidFill>
                <a:latin typeface="Microsoft JhengHei"/>
              </a:rPr>
              <a:t>資料集（約</a:t>
            </a:r>
            <a:r>
              <a:rPr sz="1700" b="0" dirty="0">
                <a:solidFill>
                  <a:srgbClr val="2B2B2B"/>
                </a:solidFill>
                <a:latin typeface="Microsoft JhengHei"/>
              </a:rPr>
              <a:t> 9000 張）。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1D14"/>
                </a:solidFill>
                <a:latin typeface="Microsoft JhengHei"/>
              </a:rPr>
              <a:t>這週做了什麼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606040" cy="384048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59" y="1920240"/>
            <a:ext cx="640080" cy="64008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83464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改成二分類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474720"/>
            <a:ext cx="21031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合併相近類別，只問「好還是壞」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2424" y="1645920"/>
            <a:ext cx="2606040" cy="384048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666744" y="1920240"/>
            <a:ext cx="640080" cy="64008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283464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處理資料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6744" y="3474720"/>
            <a:ext cx="21031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併入 USK-Coffee，只擴增訓練集，處理解析度與標籤矛盾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1645920"/>
            <a:ext cx="2606040" cy="384048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10527" y="1920240"/>
            <a:ext cx="640080" cy="64008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7" y="283464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比較模型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7" y="3474720"/>
            <a:ext cx="21031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ResNet18、ResNet50、EfficientNet-B0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79992" y="1645920"/>
            <a:ext cx="2606040" cy="384048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354312" y="1920240"/>
            <a:ext cx="640080" cy="64008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4312" y="283464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抑制 overfitting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4312" y="3474720"/>
            <a:ext cx="21031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Dropout、weight decay、label smoothing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</a:rPr>
              <a:t>從 18 類 ResNet18（測試 61%）出發，現在是好／壞二分類 ResNet50（測試 95.5%）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1D14"/>
                </a:solidFill>
                <a:latin typeface="Microsoft JhengHei"/>
              </a:rPr>
              <a:t>資料處理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6400800" cy="137160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600200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只擴增訓練集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翻轉、旋轉、裁切、調亮度；驗證／測試集完全不動，避免洩漏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63240"/>
            <a:ext cx="6400800" cy="137160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3337560"/>
            <a:ext cx="502920" cy="50292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200400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統一解析度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Normal 是 200×200，其他是 500×500，統一放大避免模型學到捷徑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63440"/>
            <a:ext cx="6400800" cy="137160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4937759"/>
            <a:ext cx="502920" cy="50292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800600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清除矛盾資料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Fade_08 與 Partial Sour_06 是同一張圖卻標不同類，已排除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4630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1D14"/>
                </a:solidFill>
                <a:latin typeface="Microsoft JhengHei"/>
              </a:rPr>
              <a:t>好／壞二分類切分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498079" y="2011680"/>
          <a:ext cx="4114800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good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bad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合計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B2B2B"/>
                          </a:solidFill>
                          <a:latin typeface="Microsoft JhengHei"/>
                        </a:rPr>
                        <a:t>train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B2B2B"/>
                          </a:solidFill>
                          <a:latin typeface="Microsoft JhengHei"/>
                        </a:rPr>
                        <a:t>3626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B2B2B"/>
                          </a:solidFill>
                          <a:latin typeface="Microsoft JhengHei"/>
                        </a:rPr>
                        <a:t>1947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B2B2B"/>
                          </a:solidFill>
                          <a:latin typeface="Microsoft JhengHei"/>
                        </a:rPr>
                        <a:t>5573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B2B2B"/>
                          </a:solidFill>
                          <a:latin typeface="Microsoft JhengHei"/>
                        </a:rPr>
                        <a:t>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B2B2B"/>
                          </a:solidFill>
                          <a:latin typeface="Microsoft JhengHei"/>
                        </a:rPr>
                        <a:t>1199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B2B2B"/>
                          </a:solidFill>
                          <a:latin typeface="Microsoft JhengHei"/>
                        </a:rPr>
                        <a:t>535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B2B2B"/>
                          </a:solidFill>
                          <a:latin typeface="Microsoft JhengHei"/>
                        </a:rPr>
                        <a:t>1734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B2B2B"/>
                          </a:solidFill>
                          <a:latin typeface="Microsoft JhengHei"/>
                        </a:rPr>
                        <a:t>test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B2B2B"/>
                          </a:solidFill>
                          <a:latin typeface="Microsoft JhengHei"/>
                        </a:rPr>
                        <a:t>1207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B2B2B"/>
                          </a:solidFill>
                          <a:latin typeface="Microsoft JhengHei"/>
                        </a:rPr>
                        <a:t>501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B2B2B"/>
                          </a:solidFill>
                          <a:latin typeface="Microsoft JhengHei"/>
                        </a:rPr>
                        <a:t>1708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498079" y="4480560"/>
            <a:ext cx="4114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好豆約是壞豆的 2 倍，所以訓練時壞豆答錯要扣比較多分（類別加權），並用 macro-F1 評分。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1D14"/>
                </a:solidFill>
                <a:latin typeface="Microsoft JhengHei"/>
              </a:rPr>
              <a:t>模型比較：ResNet50 最好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7498079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412480" y="1463040"/>
            <a:ext cx="3200400" cy="448056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1737360"/>
            <a:ext cx="265176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觀察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ResNet50 比 ResNet18 與 EfficientNet-B0 高約 1.6 個百分點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加入正則化後再進步約 0.8 個百分點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縱軸從 0.90 起算，用來看清楚差距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1D14"/>
                </a:solidFill>
                <a:latin typeface="Microsoft JhengHei"/>
              </a:rPr>
              <a:t>Overfitting 與三種對策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03A2E"/>
                </a:solidFill>
                <a:latin typeface="Microsoft JhengHei"/>
              </a:rPr>
              <a:t>加之前：訓練 loss ≈ 0.005，驗證 loss 在 0.09–0.17 震盪</a:t>
            </a:r>
          </a:p>
        </p:txBody>
      </p:sp>
      <p:pic>
        <p:nvPicPr>
          <p:cNvPr id="4" name="Picture 3" descr="v2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6217920" cy="22206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023360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B1D14"/>
                </a:solidFill>
                <a:latin typeface="Microsoft JhengHei"/>
              </a:rPr>
              <a:t>加之後：差距縮小，驗證 loss 更平穩</a:t>
            </a:r>
          </a:p>
        </p:txBody>
      </p:sp>
      <p:pic>
        <p:nvPicPr>
          <p:cNvPr id="6" name="Picture 5" descr="binreg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89120"/>
            <a:ext cx="6217920" cy="22206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37160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B1D14"/>
                </a:solidFill>
                <a:latin typeface="Microsoft JhengHei"/>
              </a:rPr>
              <a:t>三種對策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011680"/>
            <a:ext cx="4297680" cy="114300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2148840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B1D14"/>
                </a:solidFill>
                <a:latin typeface="Microsoft JhengHei"/>
              </a:rPr>
              <a:t>Dropout 0.5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訓練時隨機關掉一半特徵，不讓模型只依賴少數特徵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337560"/>
            <a:ext cx="4297680" cy="114300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3474720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B1D14"/>
                </a:solidFill>
                <a:latin typeface="Microsoft JhengHei"/>
              </a:rPr>
              <a:t>Weight decay 0.05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懲罰過大的參數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663440"/>
            <a:ext cx="4297680" cy="114300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4800600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B1D14"/>
                </a:solidFill>
                <a:latin typeface="Microsoft JhengHei"/>
              </a:rPr>
              <a:t>Label smoothing 0.1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不讓模型對答案 100% 確定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03504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77D2E"/>
                </a:solidFill>
                <a:latin typeface="Microsoft JhengHei"/>
              </a:rPr>
              <a:t>測試準確率 94.7% → 95.5%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1D14"/>
                </a:solidFill>
                <a:latin typeface="Microsoft JhengHei"/>
              </a:rPr>
              <a:t>測試結果：好豆很準，壞豆會漏</a:t>
            </a:r>
          </a:p>
        </p:txBody>
      </p:sp>
      <p:pic>
        <p:nvPicPr>
          <p:cNvPr id="3" name="Picture 2" descr="binreg_cm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532120" cy="5029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463040"/>
            <a:ext cx="4937760" cy="169164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0" y="16459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Microsoft JhengHei"/>
              </a:rPr>
              <a:t>good（好豆）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205740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recall 0.978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7432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precision 0.959｜27 顆被誤判成壞豆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383280"/>
            <a:ext cx="4937760" cy="169164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0" y="35661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Microsoft JhengHei"/>
              </a:rPr>
              <a:t>bad（壞豆）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97764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B03A2E"/>
                </a:solidFill>
                <a:latin typeface="Microsoft JhengHei"/>
              </a:rPr>
              <a:t>recall 0.900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6634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precision 0.944｜50 顆被漏抓成好豆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539496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03A2E"/>
                </a:solidFill>
                <a:latin typeface="Microsoft JhengHei"/>
              </a:rPr>
              <a:t>漏抓壞豆（bad→good）是實務上較嚴重的錯誤，所以下週要優先處理。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1D14"/>
                </a:solidFill>
                <a:latin typeface="Microsoft JhengHei"/>
              </a:rPr>
              <a:t>遇到的問題與限制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59" y="1737360"/>
            <a:ext cx="502920" cy="502920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73736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03A2E"/>
                </a:solidFill>
                <a:latin typeface="Microsoft JhengHei"/>
              </a:rPr>
              <a:t>壞豆漏抓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42316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Microsoft JhengHei"/>
              </a:rPr>
              <a:t>bad recall 只有 0.90，50 顆壞豆被判成好豆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92240" y="1737360"/>
            <a:ext cx="502920" cy="502920"/>
          </a:xfrm>
          <a:prstGeom prst="ellipse">
            <a:avLst/>
          </a:prstGeom>
          <a:solidFill>
            <a:srgbClr val="2B1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73736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好壞標準未統一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Microsoft JhengHei"/>
              </a:rPr>
              <a:t>偏黃算不算壞還沒決定，影響 USK 約 60 張；銀皮斑塊只套用在自拍資料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59" y="4206240"/>
            <a:ext cx="502920" cy="502920"/>
          </a:xfrm>
          <a:prstGeom prst="ellipse">
            <a:avLst/>
          </a:prstGeom>
          <a:solidFill>
            <a:srgbClr val="2B1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20624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自拍資料太少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89204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Microsoft JhengHei"/>
              </a:rPr>
              <a:t>自拍好豆只剩 35 張（測試集僅 6 張），分數主要反映 USK，不代表實際表現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92240" y="4206240"/>
            <a:ext cx="502920" cy="502920"/>
          </a:xfrm>
          <a:prstGeom prst="ellipse">
            <a:avLst/>
          </a:prstGeom>
          <a:solidFill>
            <a:srgbClr val="2B1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420624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解析度捷徑風險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89204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Microsoft JhengHei"/>
              </a:rPr>
              <a:t>Normal 原本 200×200、其他 500×500，已統一放大，仍需檢查模型是否真的看豆子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1D14"/>
                </a:solidFill>
                <a:latin typeface="Microsoft JhengHei"/>
              </a:rPr>
              <a:t>下週計畫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" y="1709928"/>
            <a:ext cx="502920" cy="50292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補拍自己的豆子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645920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好豆、壞豆都拍，裁成單顆、統一 500×500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2898648"/>
            <a:ext cx="502920" cy="50292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83464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統一好壞標準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834640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決定「偏黃算不算壞」，並回頭複查 USK 好豆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60" y="4087368"/>
            <a:ext cx="502920" cy="50292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6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用新資料重訓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023360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自拍與 USK 分開評估，看實際表現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" y="5276088"/>
            <a:ext cx="502920" cy="50292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21208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調整判斷門檻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5212080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把 bad recall 拉高：寧可多抓，不要漏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592</Words>
  <Application>Microsoft Office PowerPoint</Application>
  <PresentationFormat>寬螢幕</PresentationFormat>
  <Paragraphs>114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泰羲 吳</cp:lastModifiedBy>
  <cp:revision>5</cp:revision>
  <dcterms:created xsi:type="dcterms:W3CDTF">2013-01-27T09:14:16Z</dcterms:created>
  <dcterms:modified xsi:type="dcterms:W3CDTF">2026-10-01T12:05:55Z</dcterms:modified>
  <cp:category/>
</cp:coreProperties>
</file>