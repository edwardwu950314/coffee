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8" autoAdjust="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altLang="en-US" sz="1600">
                <a:solidFill>
                  <a:srgbClr val="2B2B2B"/>
                </a:solidFill>
                <a:latin typeface="Microsoft JhengHei"/>
              </a:rPr>
              <a:t>各類別張數（依拍攝日期）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10/07</c:v>
                </c:pt>
              </c:strCache>
            </c:strRef>
          </c:tx>
          <c:spPr>
            <a:solidFill>
              <a:srgbClr val="C77D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FFFFFF"/>
                    </a:solidFill>
                    <a:latin typeface="Microsoft JhengHei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良品 good</c:v>
                </c:pt>
                <c:pt idx="1">
                  <c:v>瑕疵 bad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368</c:v>
                </c:pt>
                <c:pt idx="1">
                  <c:v>317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22-4EB3-AAD4-632986611F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10/08</c:v>
                </c:pt>
              </c:strCache>
            </c:strRef>
          </c:tx>
          <c:spPr>
            <a:solidFill>
              <a:srgbClr val="2B1D1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FFFFFF"/>
                    </a:solidFill>
                    <a:latin typeface="Microsoft JhengHei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良品 good</c:v>
                </c:pt>
                <c:pt idx="1">
                  <c:v>瑕疵 bad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312</c:v>
                </c:pt>
                <c:pt idx="1">
                  <c:v>349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922-4EB3-AAD4-632986611F7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5E5E5"/>
            </a:solidFill>
          </a:ln>
        </c:spPr>
        <c:txPr>
          <a:bodyPr/>
          <a:lstStyle/>
          <a:p>
            <a:pPr>
              <a:defRPr sz="1300">
                <a:solidFill>
                  <a:srgbClr val="2B2B2B"/>
                </a:solidFill>
                <a:latin typeface="Microsoft JhengHei"/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  <a:latin typeface="Microsoft JhengHei"/>
              </a:defRPr>
            </a:pPr>
            <a:endParaRPr lang="zh-TW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>
              <a:solidFill>
                <a:srgbClr val="2B2B2B"/>
              </a:solidFill>
              <a:latin typeface="Microsoft JhengHei"/>
            </a:defRPr>
          </a:pPr>
          <a:endParaRPr lang="zh-TW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sz="1600">
                <a:solidFill>
                  <a:srgbClr val="2B2B2B"/>
                </a:solidFill>
                <a:latin typeface="Microsoft JhengHei"/>
              </a:rPr>
              <a:t>訓練過程（共 19 epochs，早停）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8100">
              <a:solidFill>
                <a:srgbClr val="C77D2E"/>
              </a:solidFill>
            </a:ln>
          </c:spPr>
          <c:marker>
            <c:symbol val="diamond"/>
            <c:size val="6"/>
            <c:spPr>
              <a:solidFill>
                <a:srgbClr val="C77D2E"/>
              </a:solidFill>
              <a:ln>
                <a:solidFill>
                  <a:srgbClr val="C77D2E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0.71440000000000003</c:v>
                </c:pt>
                <c:pt idx="1">
                  <c:v>0.82479999999999998</c:v>
                </c:pt>
                <c:pt idx="2">
                  <c:v>0.87150000000000005</c:v>
                </c:pt>
                <c:pt idx="3">
                  <c:v>0.88429999999999997</c:v>
                </c:pt>
                <c:pt idx="4">
                  <c:v>0.88959999999999995</c:v>
                </c:pt>
                <c:pt idx="5">
                  <c:v>0.8992</c:v>
                </c:pt>
                <c:pt idx="6">
                  <c:v>0.90980000000000005</c:v>
                </c:pt>
                <c:pt idx="7">
                  <c:v>0.91080000000000005</c:v>
                </c:pt>
                <c:pt idx="8">
                  <c:v>0.93840000000000001</c:v>
                </c:pt>
                <c:pt idx="9">
                  <c:v>0.93420000000000003</c:v>
                </c:pt>
                <c:pt idx="10">
                  <c:v>0.94369999999999998</c:v>
                </c:pt>
                <c:pt idx="11">
                  <c:v>0.94589999999999996</c:v>
                </c:pt>
                <c:pt idx="12">
                  <c:v>0.95650000000000002</c:v>
                </c:pt>
                <c:pt idx="13">
                  <c:v>0.95009999999999994</c:v>
                </c:pt>
                <c:pt idx="14">
                  <c:v>0.95009999999999994</c:v>
                </c:pt>
                <c:pt idx="15">
                  <c:v>0.95330000000000004</c:v>
                </c:pt>
                <c:pt idx="16">
                  <c:v>0.95540000000000003</c:v>
                </c:pt>
                <c:pt idx="17">
                  <c:v>0.96819999999999995</c:v>
                </c:pt>
                <c:pt idx="18">
                  <c:v>0.96709999999999996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3D-4C4C-B40D-14E95A5ECB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macro-F1</c:v>
                </c:pt>
              </c:strCache>
            </c:strRef>
          </c:tx>
          <c:spPr>
            <a:ln w="38100">
              <a:solidFill>
                <a:srgbClr val="2B1D14"/>
              </a:solidFill>
            </a:ln>
          </c:spPr>
          <c:marker>
            <c:symbol val="square"/>
            <c:size val="6"/>
            <c:spPr>
              <a:solidFill>
                <a:srgbClr val="2B1D14"/>
              </a:solidFill>
              <a:ln>
                <a:solidFill>
                  <a:srgbClr val="2B1D14"/>
                </a:solidFill>
              </a:ln>
            </c:spPr>
          </c:marker>
          <c:cat>
            <c:strRef>
              <c:f>Sheet1!$A$2:$A$20</c:f>
              <c:strCache>
                <c:ptCount val="1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0.92569999999999997</c:v>
                </c:pt>
                <c:pt idx="1">
                  <c:v>0.9254</c:v>
                </c:pt>
                <c:pt idx="2">
                  <c:v>0.97030000000000005</c:v>
                </c:pt>
                <c:pt idx="3">
                  <c:v>0.96530000000000005</c:v>
                </c:pt>
                <c:pt idx="4">
                  <c:v>0.97519999999999996</c:v>
                </c:pt>
                <c:pt idx="5">
                  <c:v>0.97519999999999996</c:v>
                </c:pt>
                <c:pt idx="6">
                  <c:v>0.97030000000000005</c:v>
                </c:pt>
                <c:pt idx="7">
                  <c:v>0.96040000000000003</c:v>
                </c:pt>
                <c:pt idx="8">
                  <c:v>0.97030000000000005</c:v>
                </c:pt>
                <c:pt idx="9">
                  <c:v>0.98509999999999998</c:v>
                </c:pt>
                <c:pt idx="10">
                  <c:v>0.99009999999999998</c:v>
                </c:pt>
                <c:pt idx="11">
                  <c:v>0.98019999999999996</c:v>
                </c:pt>
                <c:pt idx="12">
                  <c:v>0.98509999999999998</c:v>
                </c:pt>
                <c:pt idx="13">
                  <c:v>0.98019999999999996</c:v>
                </c:pt>
                <c:pt idx="14">
                  <c:v>0.97030000000000005</c:v>
                </c:pt>
                <c:pt idx="15">
                  <c:v>0.96530000000000005</c:v>
                </c:pt>
                <c:pt idx="16">
                  <c:v>0.97519999999999996</c:v>
                </c:pt>
                <c:pt idx="17">
                  <c:v>0.98509999999999998</c:v>
                </c:pt>
                <c:pt idx="18">
                  <c:v>0.97519999999999996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3D-4C4C-B40D-14E95A5EC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>
                    <a:solidFill>
                      <a:srgbClr val="6B6B6B"/>
                    </a:solidFill>
                    <a:latin typeface="Microsoft JhengHei"/>
                  </a:rPr>
                  <a:t>Epoch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E5E5E5"/>
            </a:solidFill>
          </a:ln>
        </c:spPr>
        <c:txPr>
          <a:bodyPr/>
          <a:lstStyle/>
          <a:p>
            <a:pPr>
              <a:defRPr sz="1300">
                <a:solidFill>
                  <a:srgbClr val="2B2B2B"/>
                </a:solidFill>
                <a:latin typeface="Microsoft JhengHei"/>
              </a:defRPr>
            </a:pPr>
            <a:endParaRPr lang="zh-TW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.7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  <a:latin typeface="Microsoft JhengHei"/>
              </a:defRPr>
            </a:pPr>
            <a:endParaRPr lang="zh-TW"/>
          </a:p>
        </c:txPr>
        <c:crossAx val="2118791784"/>
        <c:crosses val="autoZero"/>
        <c:crossBetween val="between"/>
        <c:majorUnit val="0.05"/>
      </c:valAx>
    </c:plotArea>
    <c:legend>
      <c:legendPos val="b"/>
      <c:overlay val="0"/>
      <c:txPr>
        <a:bodyPr/>
        <a:lstStyle/>
        <a:p>
          <a:pPr>
            <a:defRPr sz="1300">
              <a:solidFill>
                <a:srgbClr val="2B2B2B"/>
              </a:solidFill>
              <a:latin typeface="Microsoft JhengHei"/>
            </a:defRPr>
          </a:pPr>
          <a:endParaRPr lang="zh-TW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1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本週目標是建好水洗豆資料集；實際上也完成了前處理與第一版模型訓練。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原訂本週只建置資料集，實際進度超前，已完成前處理、訓練與推論程式。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自行購買水洗豆，逐顆挑選，一顆一張，標籤不需另外標註。10/07 與 10/08 分兩天拍攝。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10/07 完成 685 張，10/08 補拍 661 張。每類近 700 張，已超過遷移學習第一版所需的 300–500 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原圖豆子只佔畫面一小塊，直接縮成 224 會看不到瑕疵，所以先用背景色差偵測豆子再裁成方形。切分時以類別乘拍攝日期分層，避免模型學到拍攝日期。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ImageNet 預訓練 ResNet18，二分類。以驗證集 macro-F1 選最佳權重並早停；第 11 個 epoch 最佳，val macro-F1 0.990。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測試集 202 張，只評估一次。瑕疵漏判 4 顆、良品誤判 3 顆。單類錯 1 張約 1%，數字有波動屬正常。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predict.py 輸入整張原照片即可，會自動裁出豆子並標上預測結果與信心度。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重點是兩批拍攝條件一致性；瑕疵細分需與指導老師確認。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下週重點：日曬、蜜處理資料集建置，以及改善水洗豆模型。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8DCCB"/>
                </a:solidFill>
                <a:latin typeface="Microsoft JhengHei"/>
              </a:rPr>
              <a:t>咖啡豆分選機專題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</a:rPr>
              <a:t>水洗豆資料集建置與第一版瑕疵辨識模型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 err="1">
                <a:solidFill>
                  <a:srgbClr val="2B1D14"/>
                </a:solidFill>
                <a:latin typeface="Microsoft JhengHei"/>
              </a:rPr>
              <a:t>本週成果：資料集完成，模型</a:t>
            </a:r>
            <a:r>
              <a:rPr lang="zh-TW" altLang="en-US" sz="3400" b="1" dirty="0">
                <a:solidFill>
                  <a:srgbClr val="2B1D14"/>
                </a:solidFill>
                <a:latin typeface="Microsoft JhengHei"/>
              </a:rPr>
              <a:t>已完成初步訓練</a:t>
            </a:r>
            <a:endParaRPr sz="3400" b="1" dirty="0">
              <a:solidFill>
                <a:srgbClr val="2B1D14"/>
              </a:solidFill>
              <a:latin typeface="Microsoft JhengHe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6916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C77D2E"/>
                </a:solidFill>
                <a:latin typeface="Microsoft JhengHei"/>
              </a:rPr>
              <a:t>1,346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9260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張水洗豆影像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良品 680／瑕疵 666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46304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1999" y="16916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C77D2E"/>
                </a:solidFill>
                <a:latin typeface="Microsoft JhengHei"/>
              </a:rPr>
              <a:t>1.02 :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9" y="29260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良品與瑕疵比例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幾乎完全平衡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6916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>
                <a:solidFill>
                  <a:srgbClr val="C77D2E"/>
                </a:solidFill>
                <a:latin typeface="Microsoft JhengHei"/>
              </a:rPr>
              <a:t>96.5%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60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測試集準確率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（ResNet18，202 張）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365760" cy="36576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逐顆人工挑選、單獨拍攝，標籤直接取自資料夾名稱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093207"/>
            <a:ext cx="365760" cy="36576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93207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自動偵測並裁切單顆豆子，依「類別 × 拍攝日期」分層切分 70/15/15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751575"/>
            <a:ext cx="365760" cy="36576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751575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完成 ResNet18 遷移學習訓練與 predict.py 推論介面（--method 切換處理法）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1D14"/>
                </a:solidFill>
                <a:latin typeface="Microsoft JhengHei"/>
              </a:rPr>
              <a:t>資料集建置流程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59" y="1737360"/>
            <a:ext cx="548640" cy="548640"/>
          </a:xfrm>
          <a:prstGeom prst="ellipse">
            <a:avLst/>
          </a:prstGeom>
          <a:solidFill>
            <a:srgbClr val="2B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4231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購買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自行購買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水洗咖啡豆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0312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C77D2E"/>
                </a:solidFill>
                <a:latin typeface="Microsoft JhengHe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0" y="1737360"/>
            <a:ext cx="548640" cy="548640"/>
          </a:xfrm>
          <a:prstGeom prst="ellipse">
            <a:avLst/>
          </a:prstGeom>
          <a:solidFill>
            <a:srgbClr val="2B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231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挑選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逐顆人工分為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良品／瑕疵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10312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C77D2E"/>
                </a:solidFill>
                <a:latin typeface="Microsoft JhengHe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2B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拍攝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每顆單獨拍攝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一張一顆豆子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0312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C77D2E"/>
                </a:solidFill>
                <a:latin typeface="Microsoft Jheng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468880" cy="21031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26880" y="1737360"/>
            <a:ext cx="548640" cy="548640"/>
          </a:xfrm>
          <a:prstGeom prst="ellipse">
            <a:avLst/>
          </a:prstGeom>
          <a:solidFill>
            <a:srgbClr val="2B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4231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分類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依資料夾分類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good／bad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2B1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DCCB"/>
                </a:solidFill>
                <a:latin typeface="Microsoft JhengHei"/>
              </a:rPr>
              <a:t>資料夾結構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onsolas"/>
              </a:rPr>
              <a:t>water/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onsolas"/>
              </a:rPr>
              <a:t>├── good/   # 良品豆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onsolas"/>
              </a:rPr>
              <a:t>└── bad/    # 瑕疵豆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16052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Microsoft JhengHei"/>
              </a:rPr>
              <a:t>• JPG 格式，單張約 2.3–2.5 MB（4096×3072）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Microsoft JhengHei"/>
              </a:rPr>
              <a:t>• 檔名沿用相機命名 P_日期_時間.jpg，可追溯拍攝時間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Microsoft JhengHei"/>
              </a:rPr>
              <a:t>• 三種處理法共用 處理法/good、處理法/bad 結構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1D14"/>
                </a:solidFill>
                <a:latin typeface="Microsoft JhengHei"/>
              </a:rPr>
              <a:t>資料集分佈：1,346 張，類別幾乎完全平衡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62179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554480"/>
          <a:ext cx="4480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10/07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10/08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合計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佔比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Microsoft JhengHei"/>
                        </a:rPr>
                        <a:t>良品 good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368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312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680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50.5%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Microsoft JhengHei"/>
                        </a:rPr>
                        <a:t>瑕疵 bad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317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349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666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49.5%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B2B"/>
                          </a:solidFill>
                          <a:latin typeface="Microsoft JhengHei"/>
                        </a:rPr>
                        <a:t>總計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685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661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1,346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Microsoft JhengHei"/>
                        </a:rPr>
                        <a:t>100%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3840480"/>
            <a:ext cx="4480560" cy="21945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0" y="40233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類別比例參考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480560"/>
            <a:ext cx="3931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少數類佔 40% 以上：不需處理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25% 以上：可用類別權重補救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低於 25%：需特別處理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B2B2B"/>
                </a:solidFill>
                <a:latin typeface="Microsoft JhengHei"/>
              </a:rPr>
              <a:t>本資料集少數類佔 49.5%，無需額外處理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1D14"/>
                </a:solidFill>
                <a:latin typeface="Microsoft JhengHei"/>
              </a:rPr>
              <a:t>前處理：從 4096×3072 原圖裁出單顆豆子</a:t>
            </a:r>
          </a:p>
        </p:txBody>
      </p:sp>
      <p:pic>
        <p:nvPicPr>
          <p:cNvPr id="3" name="Picture 2" descr="ra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02336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0" y="25603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0">
                <a:solidFill>
                  <a:srgbClr val="C77D2E"/>
                </a:solidFill>
                <a:latin typeface="Microsoft JhengHei"/>
              </a:rPr>
              <a:t>›</a:t>
            </a:r>
          </a:p>
        </p:txBody>
      </p:sp>
      <p:pic>
        <p:nvPicPr>
          <p:cNvPr id="5" name="Picture 4" descr="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463040"/>
            <a:ext cx="30175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720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原始照片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45720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裁切後 256×256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463040"/>
            <a:ext cx="3017520" cy="34747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16459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1D14"/>
                </a:solidFill>
                <a:latin typeface="Microsoft JhengHei"/>
              </a:rPr>
              <a:t>分層切分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1945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Microsoft JhengHei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523744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77D2E"/>
                </a:solidFill>
                <a:latin typeface="Microsoft JhengHei"/>
              </a:rPr>
              <a:t>942 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5603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063239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Microsoft JhengHei"/>
              </a:rPr>
              <a:t>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392423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77D2E"/>
                </a:solidFill>
                <a:latin typeface="Microsoft JhengHei"/>
              </a:rPr>
              <a:t>202 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342899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931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Microsoft JhengHei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261104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77D2E"/>
                </a:solidFill>
                <a:latin typeface="Microsoft JhengHei"/>
              </a:rPr>
              <a:t>202 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42976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Microsoft JhengHei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JhengHei"/>
              </a:rPr>
              <a:t>背景為單色紙：與背景色差大的最大連通區域即為豆子。每類別、每一天的照片都依比例分進三份，各份 good:bad 皆約 50:50，測試集只在訓練結束後評估一次。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1D14"/>
                </a:solidFill>
                <a:latin typeface="Microsoft JhengHei"/>
              </a:rPr>
              <a:t>模型與訓練：ResNet18 遷移學習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680960" y="1463040"/>
            <a:ext cx="3931920" cy="466344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79" y="16459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1D14"/>
                </a:solidFill>
                <a:latin typeface="Microsoft JhengHei"/>
              </a:rPr>
              <a:t>訓練設定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19456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194560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Microsoft JhengHei"/>
              </a:rPr>
              <a:t>ResNet18（預訓練）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34639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輸入尺寸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834639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Microsoft JhengHei"/>
              </a:rPr>
              <a:t>224 × 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47472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學習率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474720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Microsoft JhengHei"/>
              </a:rPr>
              <a:t>1e-4，逐步減半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11480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Batch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114800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Microsoft JhengHei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754879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正則化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754879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Microsoft JhengHei"/>
              </a:rPr>
              <a:t>Dropout 0.5、weight decay 0.05、label smoothing 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39496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資料增強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94960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B2B2B"/>
                </a:solidFill>
                <a:latin typeface="Microsoft JhengHei"/>
              </a:rPr>
              <a:t>旋轉、翻轉、亮度調整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1D14"/>
                </a:solidFill>
                <a:latin typeface="Microsoft JhengHei"/>
              </a:rPr>
              <a:t>測試結果：準確率 96.5%，瑕疵召回率 96.0%</a:t>
            </a:r>
          </a:p>
        </p:txBody>
      </p:sp>
      <p:pic>
        <p:nvPicPr>
          <p:cNvPr id="3" name="Picture 2" descr="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486400" cy="4572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463040"/>
          <a:ext cx="51206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recall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F1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張數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B2B2B"/>
                          </a:solidFill>
                          <a:latin typeface="Microsoft JhengHei"/>
                        </a:rPr>
                        <a:t>bad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Microsoft JhengHei"/>
                        </a:rPr>
                        <a:t>0.970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Microsoft JhengHei"/>
                        </a:rPr>
                        <a:t>0.960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Microsoft JhengHei"/>
                        </a:rPr>
                        <a:t>0.965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Microsoft JhengHei"/>
                        </a:rPr>
                        <a:t>100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B2B2B"/>
                          </a:solidFill>
                          <a:latin typeface="Microsoft JhengHei"/>
                        </a:rPr>
                        <a:t>good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Microsoft JhengHei"/>
                        </a:rPr>
                        <a:t>0.961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Microsoft JhengHei"/>
                        </a:rPr>
                        <a:t>0.971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Microsoft JhengHei"/>
                        </a:rPr>
                        <a:t>0.966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Microsoft JhengHei"/>
                        </a:rPr>
                        <a:t>102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3291840"/>
            <a:ext cx="1554480" cy="13716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3474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C77D2E"/>
                </a:solidFill>
                <a:latin typeface="Microsoft JhengHei"/>
              </a:rPr>
              <a:t>96.5%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4114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Test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19" y="3291840"/>
            <a:ext cx="1554480" cy="13716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19" y="3474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C77D2E"/>
                </a:solidFill>
                <a:latin typeface="Microsoft JhengHei"/>
              </a:rPr>
              <a:t>0.965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19" y="4114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Test macro-F1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3291840"/>
            <a:ext cx="1554480" cy="137160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0" y="3474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C77D2E"/>
                </a:solidFill>
                <a:latin typeface="Microsoft JhengHei"/>
              </a:rPr>
              <a:t>0.990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411480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icrosoft JhengHei"/>
              </a:rPr>
              <a:t>Val 最佳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0292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對分選機而言，漏掉瑕疵豆（bad 判成 good）比誤殺良品更關鍵，之後可調整門檻值提高瑕疵召回率。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1D14"/>
                </a:solidFill>
                <a:latin typeface="Microsoft JhengHei"/>
              </a:rPr>
              <a:t>預測範例：自動裁切與信心度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_20261007_195415_b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2286000" cy="24505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383280" y="1371600"/>
            <a:ext cx="265176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_20261008_145546_b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508760"/>
            <a:ext cx="2286000" cy="24505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371600"/>
            <a:ext cx="265176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_20261007_220107_goo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08760"/>
            <a:ext cx="2286000" cy="24505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52560" y="1371600"/>
            <a:ext cx="265176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_20261008_153028_goo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1508760"/>
            <a:ext cx="2286000" cy="2450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1D14"/>
                </a:solidFill>
                <a:latin typeface="Microsoft JhengHei"/>
              </a:rPr>
              <a:t>使用方式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Consolas"/>
              </a:rPr>
              <a:t>python predict.py --method water --image 豆子照片.jpg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--method 可切換 water／sun／honey；也可傳入資料夾批次預測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B1D14"/>
                </a:solidFill>
                <a:latin typeface="Microsoft JhengHei"/>
              </a:rPr>
              <a:t>遇到的問題與檢討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兩批拍攝條件需一致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JhengHei"/>
              </a:rPr>
              <a:t>資料分兩天拍攝，光源、背景、距離要相同，避免模型學到「日期」。已分層抽樣平均分配。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高解析度與推論速度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JhengHei"/>
              </a:rPr>
              <a:t>單張約 2.4 MB，已裁切並縮成 224；之後在 Jetson Nano 的推論速度仍需評估。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440680" cy="22402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1D14"/>
                </a:solidFill>
                <a:latin typeface="Microsoft JhengHei"/>
              </a:rPr>
              <a:t>測試分數可能偏高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JhengHei"/>
              </a:rPr>
              <a:t>若同一顆豆子連拍多張，可能同時出現在 train 與 test；換環境也可能降低準確率，需另拍新環境照片驗證。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下週規劃（10/12 – 10/18）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" y="1810512"/>
            <a:ext cx="594360" cy="59436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66420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日曬豆（Natural）資料集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19456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DCCB"/>
                </a:solidFill>
                <a:latin typeface="Microsoft JhengHei"/>
              </a:rPr>
              <a:t>依相同流程逐顆挑選、拍攝，good／bad 每類目標 600 張以上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3319272"/>
            <a:ext cx="594360" cy="59436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17296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蜜處理豆（Honey）資料集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70332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DCCB"/>
                </a:solidFill>
                <a:latin typeface="Microsoft JhengHei"/>
              </a:rPr>
              <a:t>維持與水洗豆一致的拍攝條件與資料夾結構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3D2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4828032"/>
            <a:ext cx="594360" cy="59436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68172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改善水洗豆模型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5212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DCCB"/>
                </a:solidFill>
                <a:latin typeface="Microsoft JhengHei"/>
              </a:rPr>
              <a:t>另拍新環境照片驗證、評估瑕疵細分，並提高瑕疵召回率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DCCB"/>
                </a:solidFill>
                <a:latin typeface="Microsoft JhengHei"/>
              </a:rPr>
              <a:t>三種處理法各建立一個模型，皆含瑕疵辨識　｜　謝謝聆聽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544</Words>
  <Application>Microsoft Office PowerPoint</Application>
  <PresentationFormat>寬螢幕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泰羲 吳</cp:lastModifiedBy>
  <cp:revision>4</cp:revision>
  <dcterms:created xsi:type="dcterms:W3CDTF">2013-01-27T09:14:16Z</dcterms:created>
  <dcterms:modified xsi:type="dcterms:W3CDTF">2026-10-08T10:47:52Z</dcterms:modified>
  <cp:category/>
</cp:coreProperties>
</file>